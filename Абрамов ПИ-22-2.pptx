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  <p:sldMasterId id="2147483688" r:id="rId2"/>
  </p:sldMasterIdLst>
  <p:notesMasterIdLst>
    <p:notesMasterId r:id="rId44"/>
  </p:notesMasterIdLst>
  <p:handoutMasterIdLst>
    <p:handoutMasterId r:id="rId45"/>
  </p:handoutMasterIdLst>
  <p:sldIdLst>
    <p:sldId id="409" r:id="rId3"/>
    <p:sldId id="411" r:id="rId4"/>
    <p:sldId id="410" r:id="rId5"/>
    <p:sldId id="412" r:id="rId6"/>
    <p:sldId id="458" r:id="rId7"/>
    <p:sldId id="414" r:id="rId8"/>
    <p:sldId id="459" r:id="rId9"/>
    <p:sldId id="460" r:id="rId10"/>
    <p:sldId id="461" r:id="rId11"/>
    <p:sldId id="462" r:id="rId12"/>
    <p:sldId id="463" r:id="rId13"/>
    <p:sldId id="464" r:id="rId14"/>
    <p:sldId id="465" r:id="rId15"/>
    <p:sldId id="466" r:id="rId16"/>
    <p:sldId id="467" r:id="rId17"/>
    <p:sldId id="468" r:id="rId18"/>
    <p:sldId id="469" r:id="rId19"/>
    <p:sldId id="470" r:id="rId20"/>
    <p:sldId id="471" r:id="rId21"/>
    <p:sldId id="472" r:id="rId22"/>
    <p:sldId id="473" r:id="rId23"/>
    <p:sldId id="474" r:id="rId24"/>
    <p:sldId id="483" r:id="rId25"/>
    <p:sldId id="484" r:id="rId26"/>
    <p:sldId id="475" r:id="rId27"/>
    <p:sldId id="479" r:id="rId28"/>
    <p:sldId id="480" r:id="rId29"/>
    <p:sldId id="481" r:id="rId30"/>
    <p:sldId id="482" r:id="rId31"/>
    <p:sldId id="487" r:id="rId32"/>
    <p:sldId id="476" r:id="rId33"/>
    <p:sldId id="477" r:id="rId34"/>
    <p:sldId id="485" r:id="rId35"/>
    <p:sldId id="486" r:id="rId36"/>
    <p:sldId id="478" r:id="rId37"/>
    <p:sldId id="488" r:id="rId38"/>
    <p:sldId id="454" r:id="rId39"/>
    <p:sldId id="455" r:id="rId40"/>
    <p:sldId id="456" r:id="rId41"/>
    <p:sldId id="448" r:id="rId42"/>
    <p:sldId id="432" r:id="rId4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4">
          <p15:clr>
            <a:srgbClr val="A4A3A4"/>
          </p15:clr>
        </p15:guide>
        <p15:guide id="2" pos="38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AB3FA"/>
    <a:srgbClr val="0865D8"/>
    <a:srgbClr val="096AED"/>
    <a:srgbClr val="0695F0"/>
    <a:srgbClr val="FFFFFF"/>
    <a:srgbClr val="FA90A7"/>
    <a:srgbClr val="DC8680"/>
    <a:srgbClr val="5272A7"/>
    <a:srgbClr val="FCCFDD"/>
    <a:srgbClr val="FAE0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0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204"/>
      </p:cViewPr>
      <p:guideLst>
        <p:guide orient="horz" pos="2264"/>
        <p:guide pos="385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字魂58号-创中黑" panose="00000500000000000000" charset="-122"/>
              <a:ea typeface="字魂58号-创中黑" panose="00000500000000000000" charset="-122"/>
              <a:cs typeface="字魂58号-创中黑" panose="00000500000000000000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cs typeface="字魂58号-创中黑" panose="00000500000000000000" charset="-122"/>
              </a:rPr>
              <a:t>2026/6/4</a:t>
            </a:fld>
            <a:endParaRPr lang="zh-CN" altLang="en-US">
              <a:cs typeface="字魂58号-创中黑" panose="00000500000000000000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字魂58号-创中黑" panose="00000500000000000000" charset="-122"/>
              <a:ea typeface="字魂58号-创中黑" panose="00000500000000000000" charset="-122"/>
              <a:cs typeface="字魂58号-创中黑" panose="00000500000000000000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cs typeface="字魂58号-创中黑" panose="00000500000000000000" charset="-122"/>
              </a:rPr>
              <a:t>‹#›</a:t>
            </a:fld>
            <a:endParaRPr lang="zh-CN" altLang="en-US">
              <a:cs typeface="字魂58号-创中黑" panose="00000500000000000000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字魂58号-创中黑" panose="00000500000000000000" charset="-122"/>
                <a:ea typeface="字魂58号-创中黑" panose="00000500000000000000" charset="-122"/>
                <a:cs typeface="字魂58号-创中黑" panose="00000500000000000000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字魂58号-创中黑" panose="00000500000000000000" charset="-122"/>
                <a:ea typeface="字魂58号-创中黑" panose="00000500000000000000" charset="-122"/>
                <a:cs typeface="字魂58号-创中黑" panose="00000500000000000000" charset="-122"/>
              </a:defRPr>
            </a:lvl1pPr>
          </a:lstStyle>
          <a:p>
            <a:fld id="{D2A48B96-639E-45A3-A0BA-2464DFDB1FAA}" type="datetimeFigureOut">
              <a:rPr lang="zh-CN" altLang="en-US" smtClean="0"/>
              <a:t>2026/6/4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字魂58号-创中黑" panose="00000500000000000000" charset="-122"/>
                <a:ea typeface="字魂58号-创中黑" panose="00000500000000000000" charset="-122"/>
                <a:cs typeface="字魂58号-创中黑" panose="00000500000000000000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字魂58号-创中黑" panose="00000500000000000000" charset="-122"/>
                <a:ea typeface="字魂58号-创中黑" panose="00000500000000000000" charset="-122"/>
                <a:cs typeface="字魂58号-创中黑" panose="00000500000000000000" charset="-122"/>
              </a:defRPr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2410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字魂58号-创中黑" panose="00000500000000000000" charset="-122"/>
        <a:ea typeface="字魂58号-创中黑" panose="00000500000000000000" charset="-122"/>
        <a:cs typeface="字魂58号-创中黑" panose="00000500000000000000" charset="-12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字魂58号-创中黑" panose="00000500000000000000" charset="-122"/>
        <a:ea typeface="字魂58号-创中黑" panose="00000500000000000000" charset="-122"/>
        <a:cs typeface="字魂58号-创中黑" panose="00000500000000000000" charset="-122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字魂58号-创中黑" panose="00000500000000000000" charset="-122"/>
        <a:ea typeface="字魂58号-创中黑" panose="00000500000000000000" charset="-122"/>
        <a:cs typeface="字魂58号-创中黑" panose="00000500000000000000" charset="-122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字魂58号-创中黑" panose="00000500000000000000" charset="-122"/>
        <a:ea typeface="字魂58号-创中黑" panose="00000500000000000000" charset="-122"/>
        <a:cs typeface="字魂58号-创中黑" panose="00000500000000000000" charset="-122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字魂58号-创中黑" panose="00000500000000000000" charset="-122"/>
        <a:ea typeface="字魂58号-创中黑" panose="00000500000000000000" charset="-122"/>
        <a:cs typeface="字魂58号-创中黑" panose="00000500000000000000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moban/" TargetMode="External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  <a:pPr/>
              <a:t>2026/6/4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9674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2E3AAC11-D570-4EA9-AFC0-30FB72BA45EB}" type="datetimeFigureOut">
              <a:rPr lang="zh-CN" altLang="en-US" smtClean="0">
                <a:solidFill>
                  <a:prstClr val="black"/>
                </a:solidFill>
              </a:rPr>
              <a:pPr/>
              <a:t>2026/6/4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fld id="{55ECCFAA-F4FB-487C-9F1E-C8836D0C3DC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238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6173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66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712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700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482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030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182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821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65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8593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21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8571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5536495"/>
      </p:ext>
    </p:extLst>
  </p:cSld>
  <p:clrMapOvr>
    <a:masterClrMapping/>
  </p:clrMapOvr>
  <p:transition advTm="2000">
    <p:wedg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图形"/>
          <p:cNvSpPr/>
          <p:nvPr userDrawn="1"/>
        </p:nvSpPr>
        <p:spPr>
          <a:xfrm>
            <a:off x="3281680" y="465455"/>
            <a:ext cx="329565" cy="329565"/>
          </a:xfrm>
          <a:prstGeom prst="ellipse">
            <a:avLst/>
          </a:prstGeom>
          <a:solidFill>
            <a:srgbClr val="7AB3FA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633095" y="-714375"/>
            <a:ext cx="1504950" cy="1504950"/>
            <a:chOff x="-911" y="-1028"/>
            <a:chExt cx="2166" cy="2166"/>
          </a:xfrm>
        </p:grpSpPr>
        <p:sp>
          <p:nvSpPr>
            <p:cNvPr id="126" name="图形"/>
            <p:cNvSpPr/>
            <p:nvPr/>
          </p:nvSpPr>
          <p:spPr>
            <a:xfrm>
              <a:off x="-911" y="-1028"/>
              <a:ext cx="2166" cy="2166"/>
            </a:xfrm>
            <a:prstGeom prst="ellipse">
              <a:avLst/>
            </a:prstGeom>
            <a:noFill/>
            <a:ln w="38100">
              <a:gradFill>
                <a:gsLst>
                  <a:gs pos="0">
                    <a:srgbClr val="096AED"/>
                  </a:gs>
                  <a:gs pos="100000">
                    <a:srgbClr val="0695F0"/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思源黑体 CN Normal" panose="020B0400000000000000" charset="-122"/>
              </a:endParaRPr>
            </a:p>
          </p:txBody>
        </p:sp>
        <p:sp>
          <p:nvSpPr>
            <p:cNvPr id="127" name="图形"/>
            <p:cNvSpPr/>
            <p:nvPr/>
          </p:nvSpPr>
          <p:spPr>
            <a:xfrm flipV="1">
              <a:off x="0" y="0"/>
              <a:ext cx="795" cy="733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963" h="888">
                  <a:moveTo>
                    <a:pt x="0" y="42"/>
                  </a:moveTo>
                  <a:cubicBezTo>
                    <a:pt x="76" y="15"/>
                    <a:pt x="158" y="0"/>
                    <a:pt x="243" y="0"/>
                  </a:cubicBezTo>
                  <a:cubicBezTo>
                    <a:pt x="641" y="0"/>
                    <a:pt x="963" y="322"/>
                    <a:pt x="963" y="720"/>
                  </a:cubicBezTo>
                  <a:cubicBezTo>
                    <a:pt x="963" y="778"/>
                    <a:pt x="956" y="834"/>
                    <a:pt x="943" y="888"/>
                  </a:cubicBezTo>
                  <a:lnTo>
                    <a:pt x="0" y="888"/>
                  </a:lnTo>
                  <a:lnTo>
                    <a:pt x="0" y="42"/>
                  </a:lnTo>
                  <a:close/>
                </a:path>
              </a:pathLst>
            </a:custGeom>
            <a:gradFill>
              <a:gsLst>
                <a:gs pos="2000">
                  <a:srgbClr val="096AED"/>
                </a:gs>
                <a:gs pos="100000">
                  <a:srgbClr val="0695F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思源黑体 CN Normal" panose="020B0400000000000000" charset="-122"/>
              </a:endParaRPr>
            </a:p>
          </p:txBody>
        </p:sp>
      </p:grpSp>
      <p:sp>
        <p:nvSpPr>
          <p:cNvPr id="117" name="图形"/>
          <p:cNvSpPr txBox="1"/>
          <p:nvPr userDrawn="1"/>
        </p:nvSpPr>
        <p:spPr>
          <a:xfrm>
            <a:off x="596900" y="465455"/>
            <a:ext cx="3365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字魂58号-创中黑" panose="00000500000000000000" charset="-122"/>
                <a:sym typeface="+mn-ea"/>
              </a:rPr>
              <a:t>Add title text</a:t>
            </a:r>
            <a:endParaRPr lang="zh-CN" altLang="en-US" sz="3600" dirty="0">
              <a:solidFill>
                <a:schemeClr val="tx1">
                  <a:lumMod val="85000"/>
                  <a:lumOff val="15000"/>
                </a:schemeClr>
              </a:solidFill>
              <a:effectLst/>
              <a:latin typeface="+mj-ea"/>
              <a:ea typeface="+mj-ea"/>
              <a:cs typeface="字魂58号-创中黑" panose="000005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74882825"/>
      </p:ext>
    </p:extLst>
  </p:cSld>
  <p:clrMapOvr>
    <a:masterClrMapping/>
  </p:clrMapOvr>
  <p:transition advTm="2000">
    <p:wedg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图形"/>
          <p:cNvSpPr/>
          <p:nvPr userDrawn="1"/>
        </p:nvSpPr>
        <p:spPr>
          <a:xfrm>
            <a:off x="3281680" y="465455"/>
            <a:ext cx="329565" cy="329565"/>
          </a:xfrm>
          <a:prstGeom prst="ellipse">
            <a:avLst/>
          </a:prstGeom>
          <a:solidFill>
            <a:srgbClr val="7AB3FA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633095" y="-714375"/>
            <a:ext cx="1504950" cy="1504950"/>
            <a:chOff x="-911" y="-1028"/>
            <a:chExt cx="2166" cy="2166"/>
          </a:xfrm>
        </p:grpSpPr>
        <p:sp>
          <p:nvSpPr>
            <p:cNvPr id="126" name="图形"/>
            <p:cNvSpPr/>
            <p:nvPr/>
          </p:nvSpPr>
          <p:spPr>
            <a:xfrm>
              <a:off x="-911" y="-1028"/>
              <a:ext cx="2166" cy="2166"/>
            </a:xfrm>
            <a:prstGeom prst="ellipse">
              <a:avLst/>
            </a:prstGeom>
            <a:noFill/>
            <a:ln w="38100">
              <a:gradFill>
                <a:gsLst>
                  <a:gs pos="0">
                    <a:srgbClr val="096AED"/>
                  </a:gs>
                  <a:gs pos="100000">
                    <a:srgbClr val="0695F0"/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思源黑体 CN Normal" panose="020B0400000000000000" charset="-122"/>
              </a:endParaRPr>
            </a:p>
          </p:txBody>
        </p:sp>
        <p:sp>
          <p:nvSpPr>
            <p:cNvPr id="127" name="图形"/>
            <p:cNvSpPr/>
            <p:nvPr/>
          </p:nvSpPr>
          <p:spPr>
            <a:xfrm flipV="1">
              <a:off x="0" y="0"/>
              <a:ext cx="795" cy="733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963" h="888">
                  <a:moveTo>
                    <a:pt x="0" y="42"/>
                  </a:moveTo>
                  <a:cubicBezTo>
                    <a:pt x="76" y="15"/>
                    <a:pt x="158" y="0"/>
                    <a:pt x="243" y="0"/>
                  </a:cubicBezTo>
                  <a:cubicBezTo>
                    <a:pt x="641" y="0"/>
                    <a:pt x="963" y="322"/>
                    <a:pt x="963" y="720"/>
                  </a:cubicBezTo>
                  <a:cubicBezTo>
                    <a:pt x="963" y="778"/>
                    <a:pt x="956" y="834"/>
                    <a:pt x="943" y="888"/>
                  </a:cubicBezTo>
                  <a:lnTo>
                    <a:pt x="0" y="888"/>
                  </a:lnTo>
                  <a:lnTo>
                    <a:pt x="0" y="42"/>
                  </a:lnTo>
                  <a:close/>
                </a:path>
              </a:pathLst>
            </a:custGeom>
            <a:gradFill>
              <a:gsLst>
                <a:gs pos="2000">
                  <a:srgbClr val="096AED"/>
                </a:gs>
                <a:gs pos="100000">
                  <a:srgbClr val="0695F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思源黑体 CN Normal" panose="020B0400000000000000" charset="-122"/>
              </a:endParaRPr>
            </a:p>
          </p:txBody>
        </p:sp>
      </p:grpSp>
      <p:sp>
        <p:nvSpPr>
          <p:cNvPr id="117" name="图形"/>
          <p:cNvSpPr txBox="1"/>
          <p:nvPr userDrawn="1"/>
        </p:nvSpPr>
        <p:spPr>
          <a:xfrm>
            <a:off x="596900" y="465455"/>
            <a:ext cx="3246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dist">
              <a:defRPr sz="36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字魂58号-创中黑" panose="00000500000000000000" charset="-122"/>
              </a:defRPr>
            </a:lvl1pPr>
          </a:lstStyle>
          <a:p>
            <a:pPr lvl="0" algn="l"/>
            <a:r>
              <a:rPr lang="en-US" altLang="zh-CN" dirty="0">
                <a:sym typeface="+mn-ea"/>
              </a:rPr>
              <a:t>Add title text</a:t>
            </a:r>
            <a:endParaRPr lang="zh-CN" altLang="en-US" dirty="0">
              <a:sym typeface="+mn-ea"/>
            </a:endParaRPr>
          </a:p>
        </p:txBody>
      </p:sp>
    </p:spTree>
  </p:cSld>
  <p:clrMapOvr>
    <a:masterClrMapping/>
  </p:clrMapOvr>
  <p:transition>
    <p:wedg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图形"/>
          <p:cNvSpPr/>
          <p:nvPr userDrawn="1"/>
        </p:nvSpPr>
        <p:spPr>
          <a:xfrm>
            <a:off x="3281680" y="465455"/>
            <a:ext cx="329565" cy="329565"/>
          </a:xfrm>
          <a:prstGeom prst="ellipse">
            <a:avLst/>
          </a:prstGeom>
          <a:solidFill>
            <a:srgbClr val="7AB3FA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633095" y="-714375"/>
            <a:ext cx="1504950" cy="1504950"/>
            <a:chOff x="-911" y="-1028"/>
            <a:chExt cx="2166" cy="2166"/>
          </a:xfrm>
        </p:grpSpPr>
        <p:sp>
          <p:nvSpPr>
            <p:cNvPr id="126" name="图形"/>
            <p:cNvSpPr/>
            <p:nvPr/>
          </p:nvSpPr>
          <p:spPr>
            <a:xfrm>
              <a:off x="-911" y="-1028"/>
              <a:ext cx="2166" cy="2166"/>
            </a:xfrm>
            <a:prstGeom prst="ellipse">
              <a:avLst/>
            </a:prstGeom>
            <a:noFill/>
            <a:ln w="38100">
              <a:gradFill>
                <a:gsLst>
                  <a:gs pos="0">
                    <a:srgbClr val="096AED"/>
                  </a:gs>
                  <a:gs pos="100000">
                    <a:srgbClr val="0695F0"/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思源黑体 CN Normal" panose="020B0400000000000000" charset="-122"/>
              </a:endParaRPr>
            </a:p>
          </p:txBody>
        </p:sp>
        <p:sp>
          <p:nvSpPr>
            <p:cNvPr id="127" name="图形"/>
            <p:cNvSpPr/>
            <p:nvPr/>
          </p:nvSpPr>
          <p:spPr>
            <a:xfrm flipV="1">
              <a:off x="0" y="0"/>
              <a:ext cx="795" cy="733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963" h="888">
                  <a:moveTo>
                    <a:pt x="0" y="42"/>
                  </a:moveTo>
                  <a:cubicBezTo>
                    <a:pt x="76" y="15"/>
                    <a:pt x="158" y="0"/>
                    <a:pt x="243" y="0"/>
                  </a:cubicBezTo>
                  <a:cubicBezTo>
                    <a:pt x="641" y="0"/>
                    <a:pt x="963" y="322"/>
                    <a:pt x="963" y="720"/>
                  </a:cubicBezTo>
                  <a:cubicBezTo>
                    <a:pt x="963" y="778"/>
                    <a:pt x="956" y="834"/>
                    <a:pt x="943" y="888"/>
                  </a:cubicBezTo>
                  <a:lnTo>
                    <a:pt x="0" y="888"/>
                  </a:lnTo>
                  <a:lnTo>
                    <a:pt x="0" y="42"/>
                  </a:lnTo>
                  <a:close/>
                </a:path>
              </a:pathLst>
            </a:custGeom>
            <a:gradFill>
              <a:gsLst>
                <a:gs pos="2000">
                  <a:srgbClr val="096AED"/>
                </a:gs>
                <a:gs pos="100000">
                  <a:srgbClr val="0695F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思源黑体 CN Normal" panose="020B0400000000000000" charset="-122"/>
              </a:endParaRPr>
            </a:p>
          </p:txBody>
        </p:sp>
      </p:grpSp>
      <p:sp>
        <p:nvSpPr>
          <p:cNvPr id="117" name="图形"/>
          <p:cNvSpPr txBox="1"/>
          <p:nvPr userDrawn="1"/>
        </p:nvSpPr>
        <p:spPr>
          <a:xfrm>
            <a:off x="596900" y="465455"/>
            <a:ext cx="3299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dist">
              <a:defRPr sz="36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字魂58号-创中黑" panose="00000500000000000000" charset="-122"/>
              </a:defRPr>
            </a:lvl1pPr>
          </a:lstStyle>
          <a:p>
            <a:pPr lvl="0" algn="l"/>
            <a:r>
              <a:rPr lang="en-US" altLang="zh-CN" dirty="0">
                <a:sym typeface="+mn-ea"/>
              </a:rPr>
              <a:t>Add title text</a:t>
            </a:r>
            <a:endParaRPr lang="zh-CN" altLang="en-US" dirty="0">
              <a:sym typeface="+mn-ea"/>
            </a:endParaRPr>
          </a:p>
        </p:txBody>
      </p:sp>
    </p:spTree>
  </p:cSld>
  <p:clrMapOvr>
    <a:masterClrMapping/>
  </p:clrMapOvr>
  <p:transition>
    <p:wedg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图形"/>
          <p:cNvSpPr/>
          <p:nvPr userDrawn="1"/>
        </p:nvSpPr>
        <p:spPr>
          <a:xfrm>
            <a:off x="3281680" y="465455"/>
            <a:ext cx="329565" cy="329565"/>
          </a:xfrm>
          <a:prstGeom prst="ellipse">
            <a:avLst/>
          </a:prstGeom>
          <a:solidFill>
            <a:srgbClr val="7AB3FA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思源黑体 CN Normal" panose="020B0400000000000000" charset="-122"/>
            </a:endParaRPr>
          </a:p>
        </p:txBody>
      </p:sp>
      <p:grpSp>
        <p:nvGrpSpPr>
          <p:cNvPr id="7" name="组合 6"/>
          <p:cNvGrpSpPr/>
          <p:nvPr userDrawn="1"/>
        </p:nvGrpSpPr>
        <p:grpSpPr>
          <a:xfrm>
            <a:off x="-633095" y="-714375"/>
            <a:ext cx="1504950" cy="1504950"/>
            <a:chOff x="-911" y="-1028"/>
            <a:chExt cx="2166" cy="2166"/>
          </a:xfrm>
        </p:grpSpPr>
        <p:sp>
          <p:nvSpPr>
            <p:cNvPr id="126" name="图形"/>
            <p:cNvSpPr/>
            <p:nvPr/>
          </p:nvSpPr>
          <p:spPr>
            <a:xfrm>
              <a:off x="-911" y="-1028"/>
              <a:ext cx="2166" cy="2166"/>
            </a:xfrm>
            <a:prstGeom prst="ellipse">
              <a:avLst/>
            </a:prstGeom>
            <a:noFill/>
            <a:ln w="38100">
              <a:gradFill>
                <a:gsLst>
                  <a:gs pos="0">
                    <a:srgbClr val="096AED"/>
                  </a:gs>
                  <a:gs pos="100000">
                    <a:srgbClr val="0695F0"/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思源黑体 CN Normal" panose="020B0400000000000000" charset="-122"/>
              </a:endParaRPr>
            </a:p>
          </p:txBody>
        </p:sp>
        <p:sp>
          <p:nvSpPr>
            <p:cNvPr id="127" name="图形"/>
            <p:cNvSpPr/>
            <p:nvPr/>
          </p:nvSpPr>
          <p:spPr>
            <a:xfrm flipV="1">
              <a:off x="0" y="0"/>
              <a:ext cx="795" cy="733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963" h="888">
                  <a:moveTo>
                    <a:pt x="0" y="42"/>
                  </a:moveTo>
                  <a:cubicBezTo>
                    <a:pt x="76" y="15"/>
                    <a:pt x="158" y="0"/>
                    <a:pt x="243" y="0"/>
                  </a:cubicBezTo>
                  <a:cubicBezTo>
                    <a:pt x="641" y="0"/>
                    <a:pt x="963" y="322"/>
                    <a:pt x="963" y="720"/>
                  </a:cubicBezTo>
                  <a:cubicBezTo>
                    <a:pt x="963" y="778"/>
                    <a:pt x="956" y="834"/>
                    <a:pt x="943" y="888"/>
                  </a:cubicBezTo>
                  <a:lnTo>
                    <a:pt x="0" y="888"/>
                  </a:lnTo>
                  <a:lnTo>
                    <a:pt x="0" y="42"/>
                  </a:lnTo>
                  <a:close/>
                </a:path>
              </a:pathLst>
            </a:custGeom>
            <a:gradFill>
              <a:gsLst>
                <a:gs pos="2000">
                  <a:srgbClr val="096AED"/>
                </a:gs>
                <a:gs pos="100000">
                  <a:srgbClr val="0695F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思源黑体 CN Normal" panose="020B0400000000000000" charset="-122"/>
              </a:endParaRPr>
            </a:p>
          </p:txBody>
        </p:sp>
      </p:grpSp>
      <p:sp>
        <p:nvSpPr>
          <p:cNvPr id="117" name="图形"/>
          <p:cNvSpPr txBox="1"/>
          <p:nvPr userDrawn="1"/>
        </p:nvSpPr>
        <p:spPr>
          <a:xfrm>
            <a:off x="596900" y="465455"/>
            <a:ext cx="34582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dist">
              <a:defRPr sz="36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字魂58号-创中黑" panose="00000500000000000000" charset="-122"/>
              </a:defRPr>
            </a:lvl1pPr>
          </a:lstStyle>
          <a:p>
            <a:pPr lvl="0" algn="l"/>
            <a:r>
              <a:rPr lang="en-US" altLang="zh-CN" dirty="0">
                <a:sym typeface="+mn-ea"/>
              </a:rPr>
              <a:t>Add title text</a:t>
            </a:r>
            <a:endParaRPr lang="zh-CN" altLang="en-US" dirty="0">
              <a:sym typeface="+mn-ea"/>
            </a:endParaRPr>
          </a:p>
        </p:txBody>
      </p:sp>
    </p:spTree>
  </p:cSld>
  <p:clrMapOvr>
    <a:masterClrMapping/>
  </p:clrMapOvr>
  <p:transition>
    <p:wedg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71502783"/>
      </p:ext>
    </p:extLst>
  </p:cSld>
  <p:clrMapOvr>
    <a:masterClrMapping/>
  </p:clrMapOvr>
  <p:transition>
    <p:wedg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714397901"/>
      </p:ext>
    </p:extLst>
  </p:cSld>
  <p:clrMapOvr>
    <a:masterClrMapping/>
  </p:clrMapOvr>
  <p:transition>
    <p:wedg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176814931"/>
      </p:ext>
    </p:extLst>
  </p:cSld>
  <p:clrMapOvr>
    <a:masterClrMapping/>
  </p:clrMapOvr>
  <p:transition>
    <p:wedg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093540151"/>
      </p:ext>
    </p:extLst>
  </p:cSld>
  <p:clrMapOvr>
    <a:masterClrMapping/>
  </p:clrMapOvr>
  <p:transition>
    <p:wedg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980447822"/>
      </p:ext>
    </p:extLst>
  </p:cSld>
  <p:clrMapOvr>
    <a:masterClrMapping/>
  </p:clrMapOvr>
  <p:transition>
    <p:wedg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78708950"/>
      </p:ext>
    </p:extLst>
  </p:cSld>
  <p:clrMapOvr>
    <a:masterClrMapping/>
  </p:clrMapOvr>
  <p:transition>
    <p:wedg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858109254"/>
      </p:ext>
    </p:extLst>
  </p:cSld>
  <p:clrMapOvr>
    <a:masterClrMapping/>
  </p:clrMapOvr>
  <p:transition>
    <p:wedg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869415477"/>
      </p:ext>
    </p:extLst>
  </p:cSld>
  <p:clrMapOvr>
    <a:masterClrMapping/>
  </p:clrMapOvr>
  <p:transition>
    <p:wedg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38727223"/>
      </p:ext>
    </p:extLst>
  </p:cSld>
  <p:clrMapOvr>
    <a:masterClrMapping/>
  </p:clrMapOvr>
  <p:transition>
    <p:wedg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48052288"/>
      </p:ext>
    </p:extLst>
  </p:cSld>
  <p:clrMapOvr>
    <a:masterClrMapping/>
  </p:clrMapOvr>
  <p:transition>
    <p:wedg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332905" y="6450469"/>
            <a:ext cx="1800200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PPT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模板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http://www.1ppt.com/moban/</a:t>
            </a:r>
            <a:r>
              <a:rPr lang="zh-CN" altLang="en-US" sz="1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en-US" altLang="zh-CN" sz="10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51757772"/>
      </p:ext>
    </p:extLst>
  </p:cSld>
  <p:clrMapOvr>
    <a:masterClrMapping/>
  </p:clrMapOvr>
  <p:transition>
    <p:wedg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696213052"/>
      </p:ext>
    </p:extLst>
  </p:cSld>
  <p:clrMapOvr>
    <a:masterClrMapping/>
  </p:clrMapOvr>
  <p:transition>
    <p:wedg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3" Type="http://schemas.openxmlformats.org/officeDocument/2006/relationships/slideLayout" Target="../slideLayouts/slideLayout6.xml"/><Relationship Id="rId21" Type="http://schemas.openxmlformats.org/officeDocument/2006/relationships/slideLayout" Target="../slideLayouts/slideLayout24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05189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748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651" r:id="rId14"/>
    <p:sldLayoutId id="2147483652" r:id="rId15"/>
    <p:sldLayoutId id="2147483653" r:id="rId16"/>
    <p:sldLayoutId id="2147483654" r:id="rId17"/>
    <p:sldLayoutId id="2147483655" r:id="rId18"/>
    <p:sldLayoutId id="2147483656" r:id="rId19"/>
    <p:sldLayoutId id="2147483657" r:id="rId20"/>
    <p:sldLayoutId id="2147483658" r:id="rId21"/>
    <p:sldLayoutId id="2147483659" r:id="rId22"/>
    <p:sldLayoutId id="2147483660" r:id="rId23"/>
    <p:sldLayoutId id="2147483661" r:id="rId24"/>
    <p:sldLayoutId id="2147483662" r:id="rId25"/>
    <p:sldLayoutId id="2147483663" r:id="rId26"/>
    <p:sldLayoutId id="2147483664" r:id="rId27"/>
    <p:sldLayoutId id="2147483665" r:id="rId28"/>
  </p:sldLayoutIdLst>
  <p:transition>
    <p:wedg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4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6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7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8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2.xml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4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5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6.xml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7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8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9.xml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0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4.xml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5.xml"/><Relationship Id="rId4" Type="http://schemas.openxmlformats.org/officeDocument/2006/relationships/image" Target="../media/image3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6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9.xml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5.xml"/><Relationship Id="rId1" Type="http://schemas.openxmlformats.org/officeDocument/2006/relationships/tags" Target="../tags/tag41.xml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形"/>
          <p:cNvSpPr/>
          <p:nvPr/>
        </p:nvSpPr>
        <p:spPr>
          <a:xfrm>
            <a:off x="-2334260" y="-2563495"/>
            <a:ext cx="5401945" cy="5401945"/>
          </a:xfrm>
          <a:prstGeom prst="ellipse">
            <a:avLst/>
          </a:prstGeom>
          <a:gradFill>
            <a:gsLst>
              <a:gs pos="5000">
                <a:srgbClr val="096AED">
                  <a:alpha val="4000"/>
                </a:srgbClr>
              </a:gs>
              <a:gs pos="100000">
                <a:srgbClr val="0695F0">
                  <a:alpha val="23000"/>
                </a:srgbClr>
              </a:gs>
            </a:gsLst>
            <a:lin ang="2700000" scaled="0"/>
          </a:gra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7" name="图形"/>
          <p:cNvSpPr/>
          <p:nvPr/>
        </p:nvSpPr>
        <p:spPr>
          <a:xfrm flipV="1">
            <a:off x="0" y="0"/>
            <a:ext cx="1982470" cy="1828165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963" h="888">
                <a:moveTo>
                  <a:pt x="0" y="42"/>
                </a:moveTo>
                <a:cubicBezTo>
                  <a:pt x="76" y="15"/>
                  <a:pt x="158" y="0"/>
                  <a:pt x="243" y="0"/>
                </a:cubicBezTo>
                <a:cubicBezTo>
                  <a:pt x="641" y="0"/>
                  <a:pt x="963" y="322"/>
                  <a:pt x="963" y="720"/>
                </a:cubicBezTo>
                <a:cubicBezTo>
                  <a:pt x="963" y="778"/>
                  <a:pt x="956" y="834"/>
                  <a:pt x="943" y="888"/>
                </a:cubicBezTo>
                <a:lnTo>
                  <a:pt x="0" y="888"/>
                </a:lnTo>
                <a:lnTo>
                  <a:pt x="0" y="42"/>
                </a:lnTo>
                <a:close/>
              </a:path>
            </a:pathLst>
          </a:custGeom>
          <a:gradFill>
            <a:gsLst>
              <a:gs pos="5000">
                <a:srgbClr val="096AED"/>
              </a:gs>
              <a:gs pos="100000">
                <a:srgbClr val="069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9" name="图形"/>
          <p:cNvGrpSpPr/>
          <p:nvPr/>
        </p:nvGrpSpPr>
        <p:grpSpPr>
          <a:xfrm>
            <a:off x="7175021" y="2186676"/>
            <a:ext cx="8634095" cy="8634095"/>
            <a:chOff x="7170" y="5823"/>
            <a:chExt cx="13597" cy="13597"/>
          </a:xfrm>
        </p:grpSpPr>
        <p:sp>
          <p:nvSpPr>
            <p:cNvPr id="8" name="图形"/>
            <p:cNvSpPr/>
            <p:nvPr/>
          </p:nvSpPr>
          <p:spPr>
            <a:xfrm>
              <a:off x="7170" y="5823"/>
              <a:ext cx="13597" cy="13597"/>
            </a:xfrm>
            <a:prstGeom prst="ellipse">
              <a:avLst/>
            </a:prstGeom>
            <a:gradFill>
              <a:gsLst>
                <a:gs pos="0">
                  <a:srgbClr val="096AED">
                    <a:alpha val="16000"/>
                  </a:srgbClr>
                </a:gs>
                <a:gs pos="100000">
                  <a:srgbClr val="0695F0">
                    <a:alpha val="53000"/>
                  </a:srgbClr>
                </a:gs>
              </a:gsLst>
              <a:lin ang="2700000" scaled="0"/>
            </a:gra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2" name="图形"/>
            <p:cNvSpPr/>
            <p:nvPr/>
          </p:nvSpPr>
          <p:spPr>
            <a:xfrm flipV="1">
              <a:off x="8762" y="7415"/>
              <a:ext cx="10413" cy="10413"/>
            </a:xfrm>
            <a:prstGeom prst="ellipse">
              <a:avLst/>
            </a:prstGeom>
            <a:gradFill flip="none" rotWithShape="1">
              <a:gsLst>
                <a:gs pos="5000">
                  <a:srgbClr val="096AED"/>
                </a:gs>
                <a:gs pos="100000">
                  <a:srgbClr val="0695F0"/>
                </a:gs>
              </a:gsLst>
              <a:lin ang="2700000" scaled="0"/>
            </a:gradFill>
            <a:ln>
              <a:noFill/>
            </a:ln>
            <a:effectLst>
              <a:outerShdw blurRad="609600" dist="1524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endParaRPr lang="zh-CN" altLang="en-US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</p:grpSp>
      <p:sp>
        <p:nvSpPr>
          <p:cNvPr id="87" name="图形"/>
          <p:cNvSpPr/>
          <p:nvPr/>
        </p:nvSpPr>
        <p:spPr>
          <a:xfrm>
            <a:off x="461010" y="688340"/>
            <a:ext cx="11269980" cy="5481955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19050">
            <a:solidFill>
              <a:schemeClr val="bg1"/>
            </a:solidFill>
          </a:ln>
          <a:effectLst>
            <a:outerShdw blurRad="965200" dist="38100" dir="10800000" algn="r" rotWithShape="0">
              <a:srgbClr val="819CF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图形"/>
          <p:cNvSpPr/>
          <p:nvPr/>
        </p:nvSpPr>
        <p:spPr>
          <a:xfrm>
            <a:off x="1016635" y="2008505"/>
            <a:ext cx="693420" cy="693420"/>
          </a:xfrm>
          <a:prstGeom prst="ellipse">
            <a:avLst/>
          </a:prstGeom>
          <a:solidFill>
            <a:srgbClr val="096AED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pic>
        <p:nvPicPr>
          <p:cNvPr id="18" name="图形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205470" y="688340"/>
            <a:ext cx="3525520" cy="325691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552" h="5129">
                <a:moveTo>
                  <a:pt x="0" y="0"/>
                </a:moveTo>
                <a:lnTo>
                  <a:pt x="5066" y="0"/>
                </a:lnTo>
                <a:cubicBezTo>
                  <a:pt x="5335" y="0"/>
                  <a:pt x="5552" y="217"/>
                  <a:pt x="5552" y="486"/>
                </a:cubicBezTo>
                <a:lnTo>
                  <a:pt x="5552" y="5129"/>
                </a:lnTo>
                <a:lnTo>
                  <a:pt x="0" y="5129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7BB54CE0-BB0F-4491-8022-50688E76CB8A}"/>
              </a:ext>
            </a:extLst>
          </p:cNvPr>
          <p:cNvSpPr txBox="1">
            <a:spLocks/>
          </p:cNvSpPr>
          <p:nvPr/>
        </p:nvSpPr>
        <p:spPr>
          <a:xfrm>
            <a:off x="1543685" y="856797"/>
            <a:ext cx="9144000" cy="198800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</a:rPr>
              <a:t>ПРЕДДИПЛОМНАЯ ПРАКТИКА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22D39D59-7B94-43D2-9100-377D9DAB902F}"/>
              </a:ext>
            </a:extLst>
          </p:cNvPr>
          <p:cNvSpPr txBox="1">
            <a:spLocks/>
          </p:cNvSpPr>
          <p:nvPr/>
        </p:nvSpPr>
        <p:spPr>
          <a:xfrm>
            <a:off x="461010" y="1763257"/>
            <a:ext cx="11269980" cy="1239383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3200" b="0" i="0" dirty="0">
                <a:solidFill>
                  <a:srgbClr val="000000"/>
                </a:solidFill>
                <a:effectLst/>
              </a:rPr>
              <a:t>Разработка голосового ассистента на основе искусственного интеллекта для интерактивной помощи при прохождении образовательных курсов</a:t>
            </a:r>
            <a:endParaRPr lang="ru-RU" sz="4300" dirty="0">
              <a:solidFill>
                <a:schemeClr val="tx1">
                  <a:lumMod val="85000"/>
                  <a:lumOff val="15000"/>
                </a:schemeClr>
              </a:solidFill>
              <a:cs typeface="+mn-ea"/>
            </a:endParaRPr>
          </a:p>
        </p:txBody>
      </p:sp>
      <p:sp>
        <p:nvSpPr>
          <p:cNvPr id="22" name="Подзаголовок 2">
            <a:extLst>
              <a:ext uri="{FF2B5EF4-FFF2-40B4-BE49-F238E27FC236}">
                <a16:creationId xmlns:a16="http://schemas.microsoft.com/office/drawing/2014/main" id="{6CF32EE6-742E-4AE1-85E8-2CDEF4CDC18A}"/>
              </a:ext>
            </a:extLst>
          </p:cNvPr>
          <p:cNvSpPr txBox="1">
            <a:spLocks/>
          </p:cNvSpPr>
          <p:nvPr/>
        </p:nvSpPr>
        <p:spPr>
          <a:xfrm>
            <a:off x="1524000" y="3150131"/>
            <a:ext cx="9144000" cy="1246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Место прохождения практики: ООО ОНСОФТ</a:t>
            </a:r>
          </a:p>
        </p:txBody>
      </p:sp>
      <p:sp>
        <p:nvSpPr>
          <p:cNvPr id="23" name="Подзаголовок 2">
            <a:extLst>
              <a:ext uri="{FF2B5EF4-FFF2-40B4-BE49-F238E27FC236}">
                <a16:creationId xmlns:a16="http://schemas.microsoft.com/office/drawing/2014/main" id="{801F2F6F-94BF-4A6C-90B7-8A046107DE27}"/>
              </a:ext>
            </a:extLst>
          </p:cNvPr>
          <p:cNvSpPr txBox="1">
            <a:spLocks/>
          </p:cNvSpPr>
          <p:nvPr/>
        </p:nvSpPr>
        <p:spPr>
          <a:xfrm>
            <a:off x="609692" y="4837658"/>
            <a:ext cx="7749304" cy="4714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Выполнил студент: Абрамов Максим Алексеевич ПИ-22-2</a:t>
            </a:r>
          </a:p>
        </p:txBody>
      </p:sp>
      <p:sp>
        <p:nvSpPr>
          <p:cNvPr id="24" name="Подзаголовок 2">
            <a:extLst>
              <a:ext uri="{FF2B5EF4-FFF2-40B4-BE49-F238E27FC236}">
                <a16:creationId xmlns:a16="http://schemas.microsoft.com/office/drawing/2014/main" id="{41EF9F67-EA6C-49EA-998F-574702B320C0}"/>
              </a:ext>
            </a:extLst>
          </p:cNvPr>
          <p:cNvSpPr txBox="1">
            <a:spLocks/>
          </p:cNvSpPr>
          <p:nvPr/>
        </p:nvSpPr>
        <p:spPr>
          <a:xfrm>
            <a:off x="609692" y="5330173"/>
            <a:ext cx="7894865" cy="4714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Руководитель ВКР: Назаркин Олег Александрович</a:t>
            </a:r>
          </a:p>
        </p:txBody>
      </p:sp>
    </p:spTree>
    <p:custDataLst>
      <p:tags r:id="rId1"/>
    </p:custDataLst>
  </p:cSld>
  <p:clrMapOvr>
    <a:masterClrMapping/>
  </p:clrMapOvr>
  <p:transition advTm="2000">
    <p:wedg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图形"/>
          <p:cNvGrpSpPr/>
          <p:nvPr/>
        </p:nvGrpSpPr>
        <p:grpSpPr>
          <a:xfrm>
            <a:off x="-2600325" y="-1465580"/>
            <a:ext cx="15991840" cy="12027535"/>
            <a:chOff x="-4095" y="-2308"/>
            <a:chExt cx="25184" cy="18941"/>
          </a:xfrm>
        </p:grpSpPr>
        <p:sp>
          <p:nvSpPr>
            <p:cNvPr id="16" name="图形"/>
            <p:cNvSpPr/>
            <p:nvPr/>
          </p:nvSpPr>
          <p:spPr>
            <a:xfrm>
              <a:off x="12582" y="-2308"/>
              <a:ext cx="8507" cy="8507"/>
            </a:xfrm>
            <a:prstGeom prst="ellipse">
              <a:avLst/>
            </a:prstGeom>
            <a:gradFill>
              <a:gsLst>
                <a:gs pos="5000">
                  <a:srgbClr val="096AED">
                    <a:alpha val="4000"/>
                  </a:srgbClr>
                </a:gs>
                <a:gs pos="100000">
                  <a:srgbClr val="0695F0">
                    <a:alpha val="23000"/>
                  </a:srgbClr>
                </a:gs>
              </a:gsLst>
              <a:lin ang="2700000" scaled="0"/>
            </a:gra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9" name="组合 8"/>
            <p:cNvGrpSpPr/>
            <p:nvPr/>
          </p:nvGrpSpPr>
          <p:grpSpPr>
            <a:xfrm>
              <a:off x="-4095" y="3036"/>
              <a:ext cx="13597" cy="13597"/>
              <a:chOff x="7170" y="5823"/>
              <a:chExt cx="13597" cy="13597"/>
            </a:xfrm>
          </p:grpSpPr>
          <p:sp>
            <p:nvSpPr>
              <p:cNvPr id="8" name="图形"/>
              <p:cNvSpPr/>
              <p:nvPr/>
            </p:nvSpPr>
            <p:spPr>
              <a:xfrm>
                <a:off x="7170" y="5823"/>
                <a:ext cx="13597" cy="13597"/>
              </a:xfrm>
              <a:prstGeom prst="ellipse">
                <a:avLst/>
              </a:prstGeom>
              <a:gradFill>
                <a:gsLst>
                  <a:gs pos="0">
                    <a:srgbClr val="096AED">
                      <a:alpha val="16000"/>
                    </a:srgbClr>
                  </a:gs>
                  <a:gs pos="100000">
                    <a:srgbClr val="0695F0">
                      <a:alpha val="53000"/>
                    </a:srgbClr>
                  </a:gs>
                </a:gsLst>
                <a:lin ang="2700000" scaled="0"/>
              </a:gra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" name="图形"/>
              <p:cNvSpPr/>
              <p:nvPr/>
            </p:nvSpPr>
            <p:spPr>
              <a:xfrm flipV="1">
                <a:off x="8762" y="7415"/>
                <a:ext cx="10413" cy="10413"/>
              </a:xfrm>
              <a:prstGeom prst="ellipse">
                <a:avLst/>
              </a:prstGeom>
              <a:gradFill flip="none" rotWithShape="1">
                <a:gsLst>
                  <a:gs pos="5000">
                    <a:srgbClr val="096AED"/>
                  </a:gs>
                  <a:gs pos="100000">
                    <a:srgbClr val="0695F0"/>
                  </a:gs>
                </a:gsLst>
                <a:lin ang="2700000" scaled="0"/>
              </a:gradFill>
              <a:ln>
                <a:noFill/>
              </a:ln>
              <a:effectLst>
                <a:outerShdw blurRad="609600" dist="152400" dir="13500000" algn="b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4400"/>
                <a:endParaRPr lang="zh-CN" altLang="en-US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4" name="图形"/>
            <p:cNvSpPr/>
            <p:nvPr/>
          </p:nvSpPr>
          <p:spPr>
            <a:xfrm>
              <a:off x="726" y="1084"/>
              <a:ext cx="17748" cy="8633"/>
            </a:xfrm>
            <a:prstGeom prst="roundRect">
              <a:avLst>
                <a:gd name="adj" fmla="val 5625"/>
              </a:avLst>
            </a:prstGeom>
            <a:solidFill>
              <a:schemeClr val="bg1"/>
            </a:solidFill>
            <a:ln w="19050">
              <a:solidFill>
                <a:schemeClr val="bg1"/>
              </a:solidFill>
            </a:ln>
            <a:effectLst>
              <a:outerShdw blurRad="965200" dist="38100" dir="10800000" algn="r" rotWithShape="0">
                <a:srgbClr val="819CFF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4" name="图形"/>
            <p:cNvSpPr txBox="1"/>
            <p:nvPr/>
          </p:nvSpPr>
          <p:spPr>
            <a:xfrm>
              <a:off x="10647" y="2289"/>
              <a:ext cx="4310" cy="49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900" dirty="0">
                  <a:gradFill>
                    <a:gsLst>
                      <a:gs pos="0">
                        <a:srgbClr val="096AED"/>
                      </a:gs>
                      <a:gs pos="100000">
                        <a:schemeClr val="bg1">
                          <a:alpha val="0"/>
                        </a:schemeClr>
                      </a:gs>
                    </a:gsLst>
                    <a:lin ang="5400000" scaled="0"/>
                  </a:gradFill>
                  <a:cs typeface="+mn-ea"/>
                  <a:sym typeface="+mn-lt"/>
                </a:rPr>
                <a:t>01</a:t>
              </a:r>
            </a:p>
          </p:txBody>
        </p:sp>
        <p:sp>
          <p:nvSpPr>
            <p:cNvPr id="29" name="图形"/>
            <p:cNvSpPr/>
            <p:nvPr/>
          </p:nvSpPr>
          <p:spPr>
            <a:xfrm rot="10800000" flipH="1">
              <a:off x="13997" y="2901"/>
              <a:ext cx="1092" cy="1092"/>
            </a:xfrm>
            <a:prstGeom prst="ellipse">
              <a:avLst/>
            </a:prstGeom>
            <a:gradFill>
              <a:gsLst>
                <a:gs pos="16000">
                  <a:schemeClr val="bg1">
                    <a:alpha val="0"/>
                  </a:schemeClr>
                </a:gs>
                <a:gs pos="100000">
                  <a:srgbClr val="7AB3FA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1" name="图形"/>
            <p:cNvSpPr>
              <a:spLocks noChangeAspect="1"/>
            </p:cNvSpPr>
            <p:nvPr/>
          </p:nvSpPr>
          <p:spPr>
            <a:xfrm rot="5400000">
              <a:off x="11111" y="8046"/>
              <a:ext cx="204" cy="203"/>
            </a:xfrm>
            <a:prstGeom prst="flowChartConnector">
              <a:avLst/>
            </a:prstGeom>
            <a:gradFill>
              <a:gsLst>
                <a:gs pos="0">
                  <a:srgbClr val="0695F0"/>
                </a:gs>
                <a:gs pos="87000">
                  <a:srgbClr val="096AED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2" name="图形"/>
            <p:cNvSpPr>
              <a:spLocks noChangeAspect="1"/>
            </p:cNvSpPr>
            <p:nvPr/>
          </p:nvSpPr>
          <p:spPr>
            <a:xfrm rot="5400000">
              <a:off x="11456" y="8046"/>
              <a:ext cx="204" cy="203"/>
            </a:xfrm>
            <a:prstGeom prst="flowChartConnector">
              <a:avLst/>
            </a:prstGeom>
            <a:gradFill>
              <a:gsLst>
                <a:gs pos="0">
                  <a:srgbClr val="0695F0"/>
                </a:gs>
                <a:gs pos="87000">
                  <a:srgbClr val="096AED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9" name="图形"/>
            <p:cNvSpPr>
              <a:spLocks noChangeAspect="1"/>
            </p:cNvSpPr>
            <p:nvPr/>
          </p:nvSpPr>
          <p:spPr>
            <a:xfrm rot="5400000">
              <a:off x="11800" y="8046"/>
              <a:ext cx="204" cy="203"/>
            </a:xfrm>
            <a:prstGeom prst="flowChartConnector">
              <a:avLst/>
            </a:prstGeom>
            <a:gradFill>
              <a:gsLst>
                <a:gs pos="0">
                  <a:srgbClr val="0695F0"/>
                </a:gs>
                <a:gs pos="87000">
                  <a:srgbClr val="096AED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cxnSp>
          <p:nvCxnSpPr>
            <p:cNvPr id="20" name="图形"/>
            <p:cNvCxnSpPr/>
            <p:nvPr/>
          </p:nvCxnSpPr>
          <p:spPr>
            <a:xfrm>
              <a:off x="12582" y="8148"/>
              <a:ext cx="4364" cy="0"/>
            </a:xfrm>
            <a:prstGeom prst="line">
              <a:avLst/>
            </a:prstGeom>
            <a:ln w="12700">
              <a:gradFill>
                <a:gsLst>
                  <a:gs pos="0">
                    <a:srgbClr val="096AED">
                      <a:alpha val="100000"/>
                    </a:srgbClr>
                  </a:gs>
                  <a:gs pos="100000">
                    <a:srgbClr val="0695F0">
                      <a:alpha val="0"/>
                    </a:srgbClr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图形"/>
            <p:cNvSpPr txBox="1"/>
            <p:nvPr/>
          </p:nvSpPr>
          <p:spPr>
            <a:xfrm>
              <a:off x="726" y="1216"/>
              <a:ext cx="17678" cy="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altLang="zh-CN" sz="36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Описание предприятия и подразделения – места практики </a:t>
              </a:r>
              <a:endParaRPr lang="en-US" altLang="zh-CN" sz="36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3" name="图形"/>
            <p:cNvSpPr txBox="1"/>
            <p:nvPr/>
          </p:nvSpPr>
          <p:spPr>
            <a:xfrm>
              <a:off x="726" y="3697"/>
              <a:ext cx="17748" cy="4508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dist"/>
              <a:r>
                <a:rPr lang="ru-RU" sz="2000" b="0" i="0" dirty="0">
                  <a:effectLst/>
                </a:rPr>
                <a:t>ООО «</a:t>
              </a:r>
              <a:r>
                <a:rPr lang="ru-RU" sz="2000" b="0" i="0" dirty="0" err="1">
                  <a:effectLst/>
                </a:rPr>
                <a:t>Онсофт</a:t>
              </a:r>
              <a:r>
                <a:rPr lang="ru-RU" sz="2000" b="0" i="0" dirty="0">
                  <a:effectLst/>
                </a:rPr>
                <a:t>» — липецкая IT-компания, зарегистрированная 20 января 2023 года по адресу ул. Крайняя, стр. 7а, </a:t>
              </a:r>
              <a:r>
                <a:rPr lang="ru-RU" sz="2000" b="0" i="0" dirty="0" err="1">
                  <a:effectLst/>
                </a:rPr>
                <a:t>помещ</a:t>
              </a:r>
              <a:r>
                <a:rPr lang="ru-RU" sz="2000" b="0" i="0" dirty="0">
                  <a:effectLst/>
                </a:rPr>
                <a:t>. 20 (ранее располагалась на ул. </a:t>
              </a:r>
              <a:r>
                <a:rPr lang="ru-RU" sz="2000" b="0" i="0" dirty="0" err="1">
                  <a:effectLst/>
                </a:rPr>
                <a:t>Теперика</a:t>
              </a:r>
              <a:r>
                <a:rPr lang="ru-RU" sz="2000" b="0" i="0" dirty="0">
                  <a:effectLst/>
                </a:rPr>
                <a:t>). Основной вид деятельности — разработка программного обеспечения (код ОКВЭД 62.01), включая веб- и мобильные приложения, системы автоматизации бизнес-процессов. Компания использует современные технологии (JavaScript, Python, Java) и методологии разработки (</a:t>
              </a:r>
              <a:r>
                <a:rPr lang="ru-RU" sz="2000" b="0" i="0" dirty="0" err="1">
                  <a:effectLst/>
                </a:rPr>
                <a:t>Agile</a:t>
              </a:r>
              <a:r>
                <a:rPr lang="ru-RU" sz="2000" b="0" i="0" dirty="0">
                  <a:effectLst/>
                </a:rPr>
                <a:t>, </a:t>
              </a:r>
              <a:r>
                <a:rPr lang="ru-RU" sz="2000" b="0" i="0" dirty="0" err="1">
                  <a:effectLst/>
                </a:rPr>
                <a:t>Scrum</a:t>
              </a:r>
              <a:r>
                <a:rPr lang="ru-RU" sz="2000" b="0" i="0" dirty="0">
                  <a:effectLst/>
                </a:rPr>
                <a:t>). С 10 февраля 2023 года имеет статус микропредприятия с уставным капиталом 10 000 рублей. Генеральным директором с января 2025 года является </a:t>
              </a:r>
              <a:r>
                <a:rPr lang="ru-RU" sz="2000" b="0" i="0" dirty="0" err="1">
                  <a:effectLst/>
                </a:rPr>
                <a:t>Кисова</a:t>
              </a:r>
              <a:r>
                <a:rPr lang="ru-RU" sz="2000" b="0" i="0" dirty="0">
                  <a:effectLst/>
                </a:rPr>
                <a:t> Анна Евгеньевна, учредитель — Фарафонов Алексей Сергеевич. По итогам 2024 года компания продемонстрировала хорошие финансовые показатели: выручка составила 32,046 млн рублей, чистая прибыль — 3,79 млн рублей, чистые активы — 5,138 млн рублей.</a:t>
              </a:r>
              <a:endParaRPr lang="zh-CN" altLang="en-US" sz="2000" dirty="0">
                <a:solidFill>
                  <a:srgbClr val="0865D8"/>
                </a:solidFill>
                <a:cs typeface="+mn-ea"/>
                <a:sym typeface="+mn-lt"/>
              </a:endParaRPr>
            </a:p>
          </p:txBody>
        </p:sp>
        <p:sp>
          <p:nvSpPr>
            <p:cNvPr id="21" name="图形"/>
            <p:cNvSpPr/>
            <p:nvPr/>
          </p:nvSpPr>
          <p:spPr>
            <a:xfrm flipV="1">
              <a:off x="16984" y="2785"/>
              <a:ext cx="251" cy="251"/>
            </a:xfrm>
            <a:prstGeom prst="ellipse">
              <a:avLst/>
            </a:prstGeom>
            <a:gradFill flip="none" rotWithShape="1">
              <a:gsLst>
                <a:gs pos="5000">
                  <a:srgbClr val="096AED"/>
                </a:gs>
                <a:gs pos="100000">
                  <a:srgbClr val="0695F0"/>
                </a:gs>
              </a:gsLst>
              <a:lin ang="2700000" scaled="0"/>
            </a:gradFill>
            <a:ln>
              <a:noFill/>
            </a:ln>
            <a:effectLst>
              <a:outerShdw blurRad="609600" dist="1524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endParaRPr lang="zh-CN" altLang="en-US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  <p:sp>
          <p:nvSpPr>
            <p:cNvPr id="22" name="图形"/>
            <p:cNvSpPr/>
            <p:nvPr/>
          </p:nvSpPr>
          <p:spPr>
            <a:xfrm flipV="1">
              <a:off x="7932" y="6378"/>
              <a:ext cx="309" cy="309"/>
            </a:xfrm>
            <a:prstGeom prst="ellipse">
              <a:avLst/>
            </a:prstGeom>
            <a:noFill/>
            <a:ln w="0">
              <a:gradFill>
                <a:gsLst>
                  <a:gs pos="0">
                    <a:srgbClr val="096AED"/>
                  </a:gs>
                  <a:gs pos="100000">
                    <a:srgbClr val="0695F0"/>
                  </a:gs>
                </a:gsLst>
                <a:lin ang="10800000" scaled="1"/>
              </a:gradFill>
            </a:ln>
            <a:effectLst>
              <a:outerShdw blurRad="609600" dist="1524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endParaRPr lang="zh-CN" altLang="en-US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</p:grpSp>
    </p:spTree>
    <p:custDataLst>
      <p:tags r:id="rId1"/>
    </p:custDataLst>
  </p:cSld>
  <p:clrMapOvr>
    <a:masterClrMapping/>
  </p:clrMapOvr>
  <p:transition advTm="2000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图形"/>
          <p:cNvGrpSpPr/>
          <p:nvPr/>
        </p:nvGrpSpPr>
        <p:grpSpPr>
          <a:xfrm>
            <a:off x="-592435" y="-652779"/>
            <a:ext cx="12784455" cy="4761230"/>
            <a:chOff x="-911" y="-1028"/>
            <a:chExt cx="20133" cy="7498"/>
          </a:xfrm>
        </p:grpSpPr>
        <p:sp>
          <p:nvSpPr>
            <p:cNvPr id="97" name="图形"/>
            <p:cNvSpPr txBox="1"/>
            <p:nvPr/>
          </p:nvSpPr>
          <p:spPr>
            <a:xfrm>
              <a:off x="10094" y="5745"/>
              <a:ext cx="3374" cy="72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algn="dist"/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18" name="图形"/>
            <p:cNvSpPr txBox="1"/>
            <p:nvPr/>
          </p:nvSpPr>
          <p:spPr>
            <a:xfrm>
              <a:off x="1255" y="588"/>
              <a:ext cx="17967" cy="10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ru-RU" sz="3600" dirty="0">
                  <a:solidFill>
                    <a:srgbClr val="000000"/>
                  </a:solidFill>
                  <a:ea typeface="+mj-ea"/>
                  <a:cs typeface="+mj-cs"/>
                </a:rPr>
                <a:t>Описание выполнения общей программы практики</a:t>
              </a:r>
              <a:endParaRPr lang="en-US" altLang="zh-CN" sz="3600" dirty="0">
                <a:solidFill>
                  <a:srgbClr val="000000"/>
                </a:solidFill>
                <a:ea typeface="+mj-ea"/>
                <a:cs typeface="+mj-cs"/>
                <a:sym typeface="+mn-lt"/>
              </a:endParaRPr>
            </a:p>
          </p:txBody>
        </p:sp>
        <p:sp>
          <p:nvSpPr>
            <p:cNvPr id="123" name="图形"/>
            <p:cNvSpPr/>
            <p:nvPr/>
          </p:nvSpPr>
          <p:spPr>
            <a:xfrm>
              <a:off x="6494" y="1715"/>
              <a:ext cx="519" cy="519"/>
            </a:xfrm>
            <a:prstGeom prst="ellipse">
              <a:avLst/>
            </a:prstGeom>
            <a:solidFill>
              <a:srgbClr val="7AB3FA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26" name="图形"/>
            <p:cNvSpPr/>
            <p:nvPr/>
          </p:nvSpPr>
          <p:spPr>
            <a:xfrm>
              <a:off x="-911" y="-1028"/>
              <a:ext cx="2166" cy="2166"/>
            </a:xfrm>
            <a:prstGeom prst="ellipse">
              <a:avLst/>
            </a:prstGeom>
            <a:noFill/>
            <a:ln w="38100">
              <a:gradFill>
                <a:gsLst>
                  <a:gs pos="0">
                    <a:srgbClr val="096AED"/>
                  </a:gs>
                  <a:gs pos="100000">
                    <a:srgbClr val="0695F0"/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27" name="图形"/>
            <p:cNvSpPr/>
            <p:nvPr/>
          </p:nvSpPr>
          <p:spPr>
            <a:xfrm flipV="1">
              <a:off x="0" y="0"/>
              <a:ext cx="795" cy="733"/>
            </a:xfrm>
            <a:custGeom>
              <a:avLst/>
              <a:gdLst>
                <a:gd name="idx" fmla="cos wd2 2700000"/>
                <a:gd name="idy" fmla="sin hd2 2700000"/>
                <a:gd name="il" fmla="+- hc 0 idx"/>
                <a:gd name="ir" fmla="+- hc idx 0"/>
                <a:gd name="it" fmla="+- vc 0 idy"/>
                <a:gd name="ib" fmla="+- vc idy 0"/>
              </a:gdLst>
              <a:ahLst/>
              <a:cxnLst>
                <a:cxn ang="3">
                  <a:pos x="hc" y="t"/>
                </a:cxn>
                <a:cxn ang="3">
                  <a:pos x="il" y="it"/>
                </a:cxn>
                <a:cxn ang="cd2">
                  <a:pos x="l" y="vc"/>
                </a:cxn>
                <a:cxn ang="cd4">
                  <a:pos x="il" y="ib"/>
                </a:cxn>
                <a:cxn ang="cd4">
                  <a:pos x="hc" y="b"/>
                </a:cxn>
                <a:cxn ang="cd4">
                  <a:pos x="ir" y="ib"/>
                </a:cxn>
                <a:cxn ang="0">
                  <a:pos x="r" y="vc"/>
                </a:cxn>
                <a:cxn ang="3">
                  <a:pos x="ir" y="it"/>
                </a:cxn>
              </a:cxnLst>
              <a:rect l="l" t="t" r="r" b="b"/>
              <a:pathLst>
                <a:path w="963" h="888">
                  <a:moveTo>
                    <a:pt x="0" y="42"/>
                  </a:moveTo>
                  <a:cubicBezTo>
                    <a:pt x="76" y="15"/>
                    <a:pt x="158" y="0"/>
                    <a:pt x="243" y="0"/>
                  </a:cubicBezTo>
                  <a:cubicBezTo>
                    <a:pt x="641" y="0"/>
                    <a:pt x="963" y="322"/>
                    <a:pt x="963" y="720"/>
                  </a:cubicBezTo>
                  <a:cubicBezTo>
                    <a:pt x="963" y="778"/>
                    <a:pt x="956" y="834"/>
                    <a:pt x="943" y="888"/>
                  </a:cubicBezTo>
                  <a:lnTo>
                    <a:pt x="0" y="888"/>
                  </a:lnTo>
                  <a:lnTo>
                    <a:pt x="0" y="42"/>
                  </a:lnTo>
                  <a:close/>
                </a:path>
              </a:pathLst>
            </a:custGeom>
            <a:gradFill>
              <a:gsLst>
                <a:gs pos="2000">
                  <a:srgbClr val="096AED"/>
                </a:gs>
                <a:gs pos="100000">
                  <a:srgbClr val="0695F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</p:grpSp>
      <p:sp>
        <p:nvSpPr>
          <p:cNvPr id="34" name="图形">
            <a:extLst>
              <a:ext uri="{FF2B5EF4-FFF2-40B4-BE49-F238E27FC236}">
                <a16:creationId xmlns:a16="http://schemas.microsoft.com/office/drawing/2014/main" id="{C3D86B94-71DE-4973-A41F-2ADB3DD68885}"/>
              </a:ext>
            </a:extLst>
          </p:cNvPr>
          <p:cNvSpPr/>
          <p:nvPr/>
        </p:nvSpPr>
        <p:spPr>
          <a:xfrm>
            <a:off x="461010" y="1137285"/>
            <a:ext cx="11269980" cy="5481955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19050">
            <a:solidFill>
              <a:schemeClr val="bg1"/>
            </a:solidFill>
          </a:ln>
          <a:effectLst>
            <a:outerShdw blurRad="965200" dist="38100" dir="10800000" algn="r" rotWithShape="0">
              <a:srgbClr val="819CF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A290A3-7286-4046-AF4A-D1765610463E}"/>
              </a:ext>
            </a:extLst>
          </p:cNvPr>
          <p:cNvSpPr txBox="1"/>
          <p:nvPr/>
        </p:nvSpPr>
        <p:spPr>
          <a:xfrm>
            <a:off x="690114" y="1217262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В ходе взаимодействия с сотрудниками ООО</a:t>
            </a:r>
            <a:r>
              <a:rPr lang="en-US" sz="2400" dirty="0"/>
              <a:t> “</a:t>
            </a:r>
            <a:r>
              <a:rPr lang="ru-RU" sz="2400" dirty="0"/>
              <a:t>ОНСОФТ</a:t>
            </a:r>
            <a:r>
              <a:rPr lang="en-US" sz="2400" dirty="0"/>
              <a:t>”</a:t>
            </a:r>
            <a:r>
              <a:rPr lang="ru-RU" sz="2400" dirty="0"/>
              <a:t> было получено задание, направленное на разработку образовательной платформы с интегрированным ИИ-ассистентом.</a:t>
            </a:r>
            <a:r>
              <a:rPr lang="en-US" sz="2400" dirty="0"/>
              <a:t> </a:t>
            </a:r>
            <a:endParaRPr lang="ru-RU" sz="2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20E8BA-BF7F-4E3F-BFD1-11A927C5F67B}"/>
              </a:ext>
            </a:extLst>
          </p:cNvPr>
          <p:cNvSpPr txBox="1"/>
          <p:nvPr/>
        </p:nvSpPr>
        <p:spPr>
          <a:xfrm>
            <a:off x="690114" y="2289720"/>
            <a:ext cx="11040876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Основными целями этого задания являются</a:t>
            </a:r>
            <a:r>
              <a:rPr lang="en-US" sz="2400" dirty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100" dirty="0"/>
              <a:t>Разработать серверную часть приложения на языке Python.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100" dirty="0"/>
              <a:t>Реализовать REST API платформы с использованием фреймворка </a:t>
            </a:r>
            <a:r>
              <a:rPr lang="ru-RU" sz="2100" dirty="0" err="1"/>
              <a:t>FastAPI</a:t>
            </a:r>
            <a:r>
              <a:rPr lang="ru-RU" sz="21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100" dirty="0"/>
              <a:t>Организовать хранение и управление данными с помощью базы </a:t>
            </a:r>
            <a:r>
              <a:rPr lang="ru-RU" sz="2100" dirty="0" err="1"/>
              <a:t>SQLite</a:t>
            </a:r>
            <a:r>
              <a:rPr lang="ru-RU" sz="2100" dirty="0"/>
              <a:t> и ORM </a:t>
            </a:r>
            <a:r>
              <a:rPr lang="ru-RU" sz="2100" dirty="0" err="1"/>
              <a:t>SQLAlchemy</a:t>
            </a:r>
            <a:r>
              <a:rPr lang="ru-RU" sz="21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100" dirty="0"/>
              <a:t>Внедрить систему семантического поиска (RAG) на базе </a:t>
            </a:r>
            <a:r>
              <a:rPr lang="ru-RU" sz="2100" dirty="0" err="1"/>
              <a:t>LangChain</a:t>
            </a:r>
            <a:r>
              <a:rPr lang="ru-RU" sz="2100" dirty="0"/>
              <a:t> и векторной БД </a:t>
            </a:r>
            <a:r>
              <a:rPr lang="ru-RU" sz="2100" dirty="0" err="1"/>
              <a:t>ChromaDB</a:t>
            </a:r>
            <a:r>
              <a:rPr lang="ru-RU" sz="21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100" dirty="0"/>
              <a:t>Интегрировать языковые модели (</a:t>
            </a:r>
            <a:r>
              <a:rPr lang="ru-RU" sz="2100" dirty="0" err="1"/>
              <a:t>Gemini</a:t>
            </a:r>
            <a:r>
              <a:rPr lang="ru-RU" sz="2100" dirty="0"/>
              <a:t>, </a:t>
            </a:r>
            <a:r>
              <a:rPr lang="ru-RU" sz="2100" dirty="0" err="1"/>
              <a:t>Ollama</a:t>
            </a:r>
            <a:r>
              <a:rPr lang="ru-RU" sz="2100" dirty="0"/>
              <a:t>, </a:t>
            </a:r>
            <a:r>
              <a:rPr lang="ru-RU" sz="2100" dirty="0" err="1"/>
              <a:t>OpenAI</a:t>
            </a:r>
            <a:r>
              <a:rPr lang="ru-RU" sz="2100" dirty="0"/>
              <a:t>) для автоматической проверки заданий и генерации ответов.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100" dirty="0"/>
              <a:t>Разработать голосового ИИ-ассистента в реальном времени с помощью облачного сервиса </a:t>
            </a:r>
            <a:r>
              <a:rPr lang="ru-RU" sz="2100" dirty="0" err="1"/>
              <a:t>Ultravox</a:t>
            </a:r>
            <a:r>
              <a:rPr lang="ru-RU" sz="21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100" dirty="0"/>
              <a:t>Создать клиентский пользовательский интерфейс с использованием фреймворка Vue.js и сборщика </a:t>
            </a:r>
            <a:r>
              <a:rPr lang="ru-RU" sz="2100" dirty="0" err="1"/>
              <a:t>Vite</a:t>
            </a:r>
            <a:r>
              <a:rPr lang="ru-RU" sz="2100" dirty="0"/>
              <a:t>.</a:t>
            </a:r>
          </a:p>
        </p:txBody>
      </p:sp>
    </p:spTree>
    <p:custDataLst>
      <p:tags r:id="rId1"/>
    </p:custDataLst>
  </p:cSld>
  <p:clrMapOvr>
    <a:masterClrMapping/>
  </p:clrMapOvr>
  <p:transition advTm="2000">
    <p:wheel spokes="2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图形"/>
          <p:cNvGrpSpPr/>
          <p:nvPr/>
        </p:nvGrpSpPr>
        <p:grpSpPr>
          <a:xfrm>
            <a:off x="1205865" y="1702435"/>
            <a:ext cx="10015855" cy="4281170"/>
            <a:chOff x="1899" y="2681"/>
            <a:chExt cx="15773" cy="6742"/>
          </a:xfrm>
        </p:grpSpPr>
        <p:grpSp>
          <p:nvGrpSpPr>
            <p:cNvPr id="9" name="图形"/>
            <p:cNvGrpSpPr/>
            <p:nvPr/>
          </p:nvGrpSpPr>
          <p:grpSpPr>
            <a:xfrm>
              <a:off x="1899" y="2681"/>
              <a:ext cx="15773" cy="6742"/>
              <a:chOff x="953" y="2209"/>
              <a:chExt cx="17318" cy="7402"/>
            </a:xfrm>
          </p:grpSpPr>
          <p:sp>
            <p:nvSpPr>
              <p:cNvPr id="16" name="图形"/>
              <p:cNvSpPr/>
              <p:nvPr/>
            </p:nvSpPr>
            <p:spPr>
              <a:xfrm>
                <a:off x="953" y="2209"/>
                <a:ext cx="4884" cy="3366"/>
              </a:xfrm>
              <a:prstGeom prst="roundRect">
                <a:avLst>
                  <a:gd name="adj" fmla="val 5189"/>
                </a:avLst>
              </a:prstGeom>
              <a:solidFill>
                <a:schemeClr val="bg1"/>
              </a:solidFill>
              <a:ln w="0">
                <a:gradFill>
                  <a:gsLst>
                    <a:gs pos="4000">
                      <a:schemeClr val="accent2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0"/>
                </a:gradFill>
              </a:ln>
              <a:effectLst>
                <a:outerShdw blurRad="762000" dist="571500" dir="5400000" sx="80000" sy="80000" algn="t" rotWithShape="0">
                  <a:schemeClr val="accent1"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cs typeface="+mn-ea"/>
                  <a:sym typeface="+mn-lt"/>
                </a:endParaRPr>
              </a:p>
            </p:txBody>
          </p:sp>
          <p:sp>
            <p:nvSpPr>
              <p:cNvPr id="17" name="图形"/>
              <p:cNvSpPr/>
              <p:nvPr/>
            </p:nvSpPr>
            <p:spPr>
              <a:xfrm>
                <a:off x="969" y="6245"/>
                <a:ext cx="4868" cy="3366"/>
              </a:xfrm>
              <a:prstGeom prst="roundRect">
                <a:avLst>
                  <a:gd name="adj" fmla="val 5189"/>
                </a:avLst>
              </a:prstGeom>
              <a:solidFill>
                <a:schemeClr val="bg1"/>
              </a:solidFill>
              <a:ln w="0">
                <a:gradFill>
                  <a:gsLst>
                    <a:gs pos="4000">
                      <a:schemeClr val="accent2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0"/>
                </a:gradFill>
              </a:ln>
              <a:effectLst>
                <a:outerShdw blurRad="762000" dist="571500" dir="5400000" sx="80000" sy="80000" algn="t" rotWithShape="0">
                  <a:schemeClr val="accent1"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cs typeface="+mn-ea"/>
                  <a:sym typeface="+mn-lt"/>
                </a:endParaRPr>
              </a:p>
            </p:txBody>
          </p:sp>
          <p:sp>
            <p:nvSpPr>
              <p:cNvPr id="18" name="图形"/>
              <p:cNvSpPr/>
              <p:nvPr/>
            </p:nvSpPr>
            <p:spPr>
              <a:xfrm>
                <a:off x="13387" y="6245"/>
                <a:ext cx="4884" cy="3366"/>
              </a:xfrm>
              <a:prstGeom prst="roundRect">
                <a:avLst>
                  <a:gd name="adj" fmla="val 5189"/>
                </a:avLst>
              </a:prstGeom>
              <a:solidFill>
                <a:schemeClr val="bg1"/>
              </a:solidFill>
              <a:ln w="0">
                <a:gradFill>
                  <a:gsLst>
                    <a:gs pos="4000">
                      <a:schemeClr val="accent2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0"/>
                </a:gradFill>
              </a:ln>
              <a:effectLst>
                <a:outerShdw blurRad="762000" dist="571500" dir="5400000" sx="80000" sy="80000" algn="t" rotWithShape="0">
                  <a:schemeClr val="accent1"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cs typeface="+mn-ea"/>
                  <a:sym typeface="+mn-lt"/>
                </a:endParaRPr>
              </a:p>
            </p:txBody>
          </p:sp>
          <p:sp>
            <p:nvSpPr>
              <p:cNvPr id="20" name="图形"/>
              <p:cNvSpPr/>
              <p:nvPr/>
            </p:nvSpPr>
            <p:spPr>
              <a:xfrm>
                <a:off x="13387" y="2209"/>
                <a:ext cx="4884" cy="3366"/>
              </a:xfrm>
              <a:prstGeom prst="roundRect">
                <a:avLst>
                  <a:gd name="adj" fmla="val 5189"/>
                </a:avLst>
              </a:prstGeom>
              <a:solidFill>
                <a:schemeClr val="bg1"/>
              </a:solidFill>
              <a:ln w="0">
                <a:gradFill>
                  <a:gsLst>
                    <a:gs pos="4000">
                      <a:schemeClr val="accent2">
                        <a:alpha val="0"/>
                      </a:schemeClr>
                    </a:gs>
                    <a:gs pos="100000">
                      <a:schemeClr val="accent1"/>
                    </a:gs>
                  </a:gsLst>
                  <a:lin ang="5400000" scaled="0"/>
                </a:gradFill>
              </a:ln>
              <a:effectLst>
                <a:outerShdw blurRad="762000" dist="571500" dir="5400000" sx="80000" sy="80000" algn="t" rotWithShape="0">
                  <a:schemeClr val="accent1">
                    <a:alpha val="4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cs typeface="+mn-ea"/>
                  <a:sym typeface="+mn-lt"/>
                </a:endParaRPr>
              </a:p>
            </p:txBody>
          </p:sp>
        </p:grpSp>
        <p:grpSp>
          <p:nvGrpSpPr>
            <p:cNvPr id="25" name="图形"/>
            <p:cNvGrpSpPr/>
            <p:nvPr/>
          </p:nvGrpSpPr>
          <p:grpSpPr>
            <a:xfrm>
              <a:off x="13473" y="2971"/>
              <a:ext cx="4199" cy="4609"/>
              <a:chOff x="13473" y="2971"/>
              <a:chExt cx="4199" cy="4609"/>
            </a:xfrm>
          </p:grpSpPr>
          <p:sp>
            <p:nvSpPr>
              <p:cNvPr id="26" name="图形"/>
              <p:cNvSpPr txBox="1"/>
              <p:nvPr/>
            </p:nvSpPr>
            <p:spPr>
              <a:xfrm>
                <a:off x="13855" y="2971"/>
                <a:ext cx="1347" cy="6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>
                    <a:cs typeface="+mn-ea"/>
                    <a:sym typeface="+mn-lt"/>
                  </a:rPr>
                  <a:t>SQLite</a:t>
                </a:r>
                <a:endParaRPr lang="zh-CN" altLang="en-US" sz="20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31" name="图形"/>
              <p:cNvSpPr txBox="1"/>
              <p:nvPr/>
            </p:nvSpPr>
            <p:spPr>
              <a:xfrm>
                <a:off x="13473" y="3476"/>
                <a:ext cx="4047" cy="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2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Реляционная</a:t>
                </a: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 </a:t>
                </a:r>
                <a:r>
                  <a:rPr lang="en-US" sz="12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база</a:t>
                </a: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 </a:t>
                </a:r>
                <a:r>
                  <a:rPr lang="en-US" sz="12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данных</a:t>
                </a: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 </a:t>
                </a:r>
                <a:r>
                  <a:rPr lang="en-US" sz="12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для</a:t>
                </a: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 </a:t>
                </a:r>
                <a:r>
                  <a:rPr lang="en-US" sz="12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хранения</a:t>
                </a:r>
                <a:r>
                  <a:rPr lang="en-US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 </a:t>
                </a:r>
                <a:r>
                  <a:rPr lang="en-US" sz="12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пользователей</a:t>
                </a:r>
                <a:endParaRPr lang="zh-CN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  <a:sym typeface="+mn-lt"/>
                </a:endParaRP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3621" y="3194"/>
                <a:ext cx="264" cy="264"/>
                <a:chOff x="12344" y="6130"/>
                <a:chExt cx="336" cy="336"/>
              </a:xfrm>
            </p:grpSpPr>
            <p:sp>
              <p:nvSpPr>
                <p:cNvPr id="32" name="图形"/>
                <p:cNvSpPr/>
                <p:nvPr/>
              </p:nvSpPr>
              <p:spPr>
                <a:xfrm>
                  <a:off x="12344" y="6130"/>
                  <a:ext cx="337" cy="337"/>
                </a:xfrm>
                <a:prstGeom prst="ellipse">
                  <a:avLst/>
                </a:prstGeom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54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3" name="图形"/>
                <p:cNvSpPr/>
                <p:nvPr/>
              </p:nvSpPr>
              <p:spPr>
                <a:xfrm>
                  <a:off x="12391" y="6177"/>
                  <a:ext cx="242" cy="24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27" name="图形"/>
              <p:cNvSpPr txBox="1"/>
              <p:nvPr/>
            </p:nvSpPr>
            <p:spPr>
              <a:xfrm>
                <a:off x="13848" y="6555"/>
                <a:ext cx="2049" cy="6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cs typeface="+mn-ea"/>
                  </a:rPr>
                  <a:t>ChromaDB</a:t>
                </a:r>
                <a:endParaRPr lang="zh-CN" altLang="en-US" sz="2000" dirty="0">
                  <a:cs typeface="+mn-ea"/>
                  <a:sym typeface="+mn-lt"/>
                </a:endParaRPr>
              </a:p>
            </p:txBody>
          </p:sp>
          <p:sp>
            <p:nvSpPr>
              <p:cNvPr id="28" name="图形"/>
              <p:cNvSpPr txBox="1"/>
              <p:nvPr/>
            </p:nvSpPr>
            <p:spPr>
              <a:xfrm>
                <a:off x="13473" y="7144"/>
                <a:ext cx="4199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r>
                  <a:rPr lang="ru-RU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Локальная</a:t>
                </a:r>
                <a:r>
                  <a:rPr lang="ru-RU" sz="1200" b="0" i="0" dirty="0">
                    <a:solidFill>
                      <a:srgbClr val="CCCCCC"/>
                    </a:solidFill>
                    <a:effectLst/>
                    <a:latin typeface="ui-sans-serif"/>
                  </a:rPr>
                  <a:t> </a:t>
                </a:r>
                <a:r>
                  <a:rPr lang="ru-RU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векторная</a:t>
                </a:r>
                <a:r>
                  <a:rPr lang="ru-RU" sz="1200" b="0" i="0" dirty="0">
                    <a:solidFill>
                      <a:srgbClr val="CCCCCC"/>
                    </a:solidFill>
                    <a:effectLst/>
                    <a:latin typeface="ui-sans-serif"/>
                  </a:rPr>
                  <a:t> </a:t>
                </a:r>
                <a:r>
                  <a:rPr lang="ru-RU" sz="12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cs typeface="+mn-ea"/>
                  </a:rPr>
                  <a:t>база данных.</a:t>
                </a:r>
                <a:endPara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cs typeface="+mn-ea"/>
                </a:endParaRPr>
              </a:p>
            </p:txBody>
          </p:sp>
          <p:grpSp>
            <p:nvGrpSpPr>
              <p:cNvPr id="29" name="组合 28"/>
              <p:cNvGrpSpPr/>
              <p:nvPr/>
            </p:nvGrpSpPr>
            <p:grpSpPr>
              <a:xfrm>
                <a:off x="13614" y="6778"/>
                <a:ext cx="264" cy="264"/>
                <a:chOff x="12344" y="6130"/>
                <a:chExt cx="336" cy="336"/>
              </a:xfrm>
            </p:grpSpPr>
            <p:sp>
              <p:nvSpPr>
                <p:cNvPr id="35" name="图形"/>
                <p:cNvSpPr/>
                <p:nvPr/>
              </p:nvSpPr>
              <p:spPr>
                <a:xfrm>
                  <a:off x="12344" y="6130"/>
                  <a:ext cx="337" cy="337"/>
                </a:xfrm>
                <a:prstGeom prst="ellipse">
                  <a:avLst/>
                </a:prstGeom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54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37" name="图形"/>
                <p:cNvSpPr/>
                <p:nvPr/>
              </p:nvSpPr>
              <p:spPr>
                <a:xfrm>
                  <a:off x="12391" y="6177"/>
                  <a:ext cx="242" cy="24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  <p:grpSp>
          <p:nvGrpSpPr>
            <p:cNvPr id="39" name="图形"/>
            <p:cNvGrpSpPr/>
            <p:nvPr/>
          </p:nvGrpSpPr>
          <p:grpSpPr>
            <a:xfrm>
              <a:off x="2047" y="2954"/>
              <a:ext cx="4199" cy="5498"/>
              <a:chOff x="13466" y="2971"/>
              <a:chExt cx="4199" cy="5498"/>
            </a:xfrm>
          </p:grpSpPr>
          <p:sp>
            <p:nvSpPr>
              <p:cNvPr id="40" name="图形"/>
              <p:cNvSpPr txBox="1"/>
              <p:nvPr/>
            </p:nvSpPr>
            <p:spPr>
              <a:xfrm>
                <a:off x="13855" y="2971"/>
                <a:ext cx="925" cy="6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>
                    <a:cs typeface="+mn-ea"/>
                    <a:sym typeface="+mn-lt"/>
                  </a:rPr>
                  <a:t>Vue</a:t>
                </a:r>
                <a:endParaRPr lang="zh-CN" altLang="en-US" sz="20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1" name="图形"/>
              <p:cNvSpPr txBox="1"/>
              <p:nvPr/>
            </p:nvSpPr>
            <p:spPr>
              <a:xfrm>
                <a:off x="13486" y="3436"/>
                <a:ext cx="4179" cy="18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sz="1200" dirty="0">
                    <a:cs typeface="+mn-ea"/>
                  </a:rPr>
                  <a:t>Язык программирования предназначенный для создания эффективных, надёжных и масштабируемых приложений.</a:t>
                </a:r>
                <a:endParaRPr lang="zh-CN" altLang="en-US" sz="1200" dirty="0">
                  <a:cs typeface="+mn-ea"/>
                  <a:sym typeface="+mn-lt"/>
                </a:endParaRPr>
              </a:p>
            </p:txBody>
          </p:sp>
          <p:grpSp>
            <p:nvGrpSpPr>
              <p:cNvPr id="42" name="组合 41"/>
              <p:cNvGrpSpPr/>
              <p:nvPr/>
            </p:nvGrpSpPr>
            <p:grpSpPr>
              <a:xfrm>
                <a:off x="13621" y="3194"/>
                <a:ext cx="264" cy="264"/>
                <a:chOff x="12344" y="6130"/>
                <a:chExt cx="336" cy="336"/>
              </a:xfrm>
            </p:grpSpPr>
            <p:sp>
              <p:nvSpPr>
                <p:cNvPr id="43" name="图形"/>
                <p:cNvSpPr/>
                <p:nvPr/>
              </p:nvSpPr>
              <p:spPr>
                <a:xfrm>
                  <a:off x="12344" y="6130"/>
                  <a:ext cx="337" cy="337"/>
                </a:xfrm>
                <a:prstGeom prst="ellipse">
                  <a:avLst/>
                </a:prstGeom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54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cs typeface="+mn-ea"/>
                    <a:sym typeface="+mn-lt"/>
                  </a:endParaRPr>
                </a:p>
              </p:txBody>
            </p:sp>
            <p:sp>
              <p:nvSpPr>
                <p:cNvPr id="44" name="图形"/>
                <p:cNvSpPr/>
                <p:nvPr/>
              </p:nvSpPr>
              <p:spPr>
                <a:xfrm>
                  <a:off x="12391" y="6177"/>
                  <a:ext cx="242" cy="24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图形"/>
              <p:cNvSpPr txBox="1"/>
              <p:nvPr/>
            </p:nvSpPr>
            <p:spPr>
              <a:xfrm>
                <a:off x="13848" y="6555"/>
                <a:ext cx="2936" cy="5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Times New Roman" panose="02020603050405020304" pitchFamily="18" charset="0"/>
                    <a:ea typeface="Calibri" panose="020F0502020204030204" pitchFamily="34" charset="0"/>
                  </a:rPr>
                  <a:t>FastAPI</a:t>
                </a:r>
                <a:r>
                  <a:rPr lang="en-US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 (Python)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</a:t>
                </a:r>
                <a:endParaRPr lang="zh-CN" altLang="en-US" sz="2000" dirty="0">
                  <a:solidFill>
                    <a:schemeClr val="tx1"/>
                  </a:solidFill>
                  <a:cs typeface="+mn-ea"/>
                  <a:sym typeface="+mn-lt"/>
                </a:endParaRPr>
              </a:p>
            </p:txBody>
          </p:sp>
          <p:sp>
            <p:nvSpPr>
              <p:cNvPr id="46" name="图形"/>
              <p:cNvSpPr txBox="1"/>
              <p:nvPr/>
            </p:nvSpPr>
            <p:spPr>
              <a:xfrm>
                <a:off x="13466" y="7060"/>
                <a:ext cx="4199" cy="14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0">
                  <a:lnSpc>
                    <a:spcPct val="150000"/>
                  </a:lnSpc>
                  <a:buNone/>
                </a:pPr>
                <a:r>
                  <a:rPr lang="en-US" sz="1200" dirty="0" err="1">
                    <a:cs typeface="+mn-ea"/>
                  </a:rPr>
                  <a:t>Серверная</a:t>
                </a:r>
                <a:r>
                  <a:rPr lang="en-US" sz="1200" dirty="0">
                    <a:cs typeface="+mn-ea"/>
                  </a:rPr>
                  <a:t> </a:t>
                </a:r>
                <a:r>
                  <a:rPr lang="en-US" sz="1200" dirty="0" err="1">
                    <a:cs typeface="+mn-ea"/>
                  </a:rPr>
                  <a:t>платформа</a:t>
                </a:r>
                <a:r>
                  <a:rPr lang="en-US" sz="1200" dirty="0">
                    <a:cs typeface="+mn-ea"/>
                  </a:rPr>
                  <a:t> </a:t>
                </a:r>
                <a:r>
                  <a:rPr lang="en-US" sz="1200" dirty="0" err="1">
                    <a:cs typeface="+mn-ea"/>
                  </a:rPr>
                  <a:t>для</a:t>
                </a:r>
                <a:r>
                  <a:rPr lang="en-US" sz="1200" dirty="0">
                    <a:cs typeface="+mn-ea"/>
                  </a:rPr>
                  <a:t> REST API, </a:t>
                </a:r>
                <a:r>
                  <a:rPr lang="en-US" sz="1200" dirty="0" err="1">
                    <a:cs typeface="+mn-ea"/>
                  </a:rPr>
                  <a:t>маршрутизации</a:t>
                </a:r>
                <a:r>
                  <a:rPr lang="en-US" sz="1200" dirty="0">
                    <a:cs typeface="+mn-ea"/>
                  </a:rPr>
                  <a:t> </a:t>
                </a:r>
                <a:r>
                  <a:rPr lang="en-US" sz="1200" dirty="0" err="1">
                    <a:cs typeface="+mn-ea"/>
                  </a:rPr>
                  <a:t>запросов</a:t>
                </a:r>
                <a:r>
                  <a:rPr lang="en-US" sz="1200" dirty="0">
                    <a:cs typeface="+mn-ea"/>
                  </a:rPr>
                  <a:t> и </a:t>
                </a:r>
                <a:r>
                  <a:rPr lang="en-US" sz="1200" dirty="0" err="1">
                    <a:cs typeface="+mn-ea"/>
                  </a:rPr>
                  <a:t>бизнес-логики</a:t>
                </a:r>
                <a:r>
                  <a:rPr lang="en-US" sz="1200" dirty="0">
                    <a:cs typeface="+mn-ea"/>
                  </a:rPr>
                  <a:t> </a:t>
                </a:r>
                <a:r>
                  <a:rPr lang="en-US" sz="1200" dirty="0" err="1">
                    <a:cs typeface="+mn-ea"/>
                  </a:rPr>
                  <a:t>приложения</a:t>
                </a:r>
                <a:r>
                  <a:rPr lang="en-US" sz="1200" dirty="0">
                    <a:cs typeface="+mn-ea"/>
                  </a:rPr>
                  <a:t>.</a:t>
                </a:r>
              </a:p>
            </p:txBody>
          </p:sp>
          <p:grpSp>
            <p:nvGrpSpPr>
              <p:cNvPr id="47" name="组合 46"/>
              <p:cNvGrpSpPr/>
              <p:nvPr/>
            </p:nvGrpSpPr>
            <p:grpSpPr>
              <a:xfrm>
                <a:off x="13614" y="6778"/>
                <a:ext cx="264" cy="264"/>
                <a:chOff x="12344" y="6130"/>
                <a:chExt cx="336" cy="336"/>
              </a:xfrm>
            </p:grpSpPr>
            <p:sp>
              <p:nvSpPr>
                <p:cNvPr id="48" name="图形"/>
                <p:cNvSpPr/>
                <p:nvPr/>
              </p:nvSpPr>
              <p:spPr>
                <a:xfrm>
                  <a:off x="12344" y="6130"/>
                  <a:ext cx="337" cy="337"/>
                </a:xfrm>
                <a:prstGeom prst="ellipse">
                  <a:avLst/>
                </a:prstGeom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54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  <p:sp>
              <p:nvSpPr>
                <p:cNvPr id="49" name="图形"/>
                <p:cNvSpPr/>
                <p:nvPr/>
              </p:nvSpPr>
              <p:spPr>
                <a:xfrm>
                  <a:off x="12391" y="6177"/>
                  <a:ext cx="242" cy="242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</p:grp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CE7C783-CB2A-4E4D-8923-532C3912B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00" y="615198"/>
            <a:ext cx="2572633" cy="417947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B581895-4B2A-4C08-99B9-8E0AA0A83D28}"/>
              </a:ext>
            </a:extLst>
          </p:cNvPr>
          <p:cNvSpPr txBox="1"/>
          <p:nvPr/>
        </p:nvSpPr>
        <p:spPr>
          <a:xfrm>
            <a:off x="829733" y="396228"/>
            <a:ext cx="11303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Описание используемого программного обеспечения для выполнения практики</a:t>
            </a:r>
            <a:endParaRPr lang="ru-RU" sz="2800" dirty="0"/>
          </a:p>
        </p:txBody>
      </p:sp>
      <p:sp>
        <p:nvSpPr>
          <p:cNvPr id="51" name="图形">
            <a:extLst>
              <a:ext uri="{FF2B5EF4-FFF2-40B4-BE49-F238E27FC236}">
                <a16:creationId xmlns:a16="http://schemas.microsoft.com/office/drawing/2014/main" id="{091D3F36-04C4-4F46-95BB-DEF460DEA00A}"/>
              </a:ext>
            </a:extLst>
          </p:cNvPr>
          <p:cNvSpPr/>
          <p:nvPr/>
        </p:nvSpPr>
        <p:spPr>
          <a:xfrm>
            <a:off x="4801463" y="1720142"/>
            <a:ext cx="2824658" cy="1946828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1800" b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LangChain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52" name="图形">
            <a:extLst>
              <a:ext uri="{FF2B5EF4-FFF2-40B4-BE49-F238E27FC236}">
                <a16:creationId xmlns:a16="http://schemas.microsoft.com/office/drawing/2014/main" id="{388F5A0C-D4CE-4212-A707-622986BAB7B8}"/>
              </a:ext>
            </a:extLst>
          </p:cNvPr>
          <p:cNvSpPr/>
          <p:nvPr/>
        </p:nvSpPr>
        <p:spPr>
          <a:xfrm>
            <a:off x="4801463" y="4052670"/>
            <a:ext cx="2824658" cy="1946828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53" name="图形">
            <a:extLst>
              <a:ext uri="{FF2B5EF4-FFF2-40B4-BE49-F238E27FC236}">
                <a16:creationId xmlns:a16="http://schemas.microsoft.com/office/drawing/2014/main" id="{18E07C90-0DC8-4133-A758-C81E00426413}"/>
              </a:ext>
            </a:extLst>
          </p:cNvPr>
          <p:cNvSpPr/>
          <p:nvPr/>
        </p:nvSpPr>
        <p:spPr>
          <a:xfrm>
            <a:off x="4918296" y="2040845"/>
            <a:ext cx="120741" cy="12074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54" name="图形">
            <a:extLst>
              <a:ext uri="{FF2B5EF4-FFF2-40B4-BE49-F238E27FC236}">
                <a16:creationId xmlns:a16="http://schemas.microsoft.com/office/drawing/2014/main" id="{26B92AEA-40B7-4D29-8811-A3F0B57F6277}"/>
              </a:ext>
            </a:extLst>
          </p:cNvPr>
          <p:cNvSpPr/>
          <p:nvPr/>
        </p:nvSpPr>
        <p:spPr>
          <a:xfrm>
            <a:off x="4894597" y="2006600"/>
            <a:ext cx="168139" cy="168139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56" name="图形">
            <a:extLst>
              <a:ext uri="{FF2B5EF4-FFF2-40B4-BE49-F238E27FC236}">
                <a16:creationId xmlns:a16="http://schemas.microsoft.com/office/drawing/2014/main" id="{E4283946-72D4-403E-9DD9-BB410347E929}"/>
              </a:ext>
            </a:extLst>
          </p:cNvPr>
          <p:cNvSpPr/>
          <p:nvPr/>
        </p:nvSpPr>
        <p:spPr>
          <a:xfrm>
            <a:off x="4913897" y="2023911"/>
            <a:ext cx="120741" cy="12074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2D6C60-4ECA-4384-B834-201B2944953B}"/>
              </a:ext>
            </a:extLst>
          </p:cNvPr>
          <p:cNvSpPr txBox="1"/>
          <p:nvPr/>
        </p:nvSpPr>
        <p:spPr>
          <a:xfrm>
            <a:off x="5155870" y="1875730"/>
            <a:ext cx="1573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cs typeface="+mn-ea"/>
              </a:rPr>
              <a:t>LangChain</a:t>
            </a:r>
            <a:endParaRPr lang="ru-RU" sz="2000" dirty="0">
              <a:cs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35683-E7D5-450E-B516-6D2A9837B71B}"/>
              </a:ext>
            </a:extLst>
          </p:cNvPr>
          <p:cNvSpPr txBox="1"/>
          <p:nvPr/>
        </p:nvSpPr>
        <p:spPr>
          <a:xfrm>
            <a:off x="4835332" y="2232741"/>
            <a:ext cx="2731524" cy="894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200" dirty="0">
                <a:cs typeface="+mn-ea"/>
              </a:rPr>
              <a:t>Фреймворк с открытым исходным кодом для построения приложений на основе больших языковых моделей. 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93D21A0-6A01-49C9-A506-1FC2C1626E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267" y="4296092"/>
            <a:ext cx="161925" cy="16192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5BFC968F-8B9D-41BF-B237-0B7280192F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4087" y="3367087"/>
            <a:ext cx="123825" cy="123825"/>
          </a:xfrm>
          <a:prstGeom prst="rect">
            <a:avLst/>
          </a:prstGeom>
        </p:spPr>
      </p:pic>
      <p:sp>
        <p:nvSpPr>
          <p:cNvPr id="57" name="图形">
            <a:extLst>
              <a:ext uri="{FF2B5EF4-FFF2-40B4-BE49-F238E27FC236}">
                <a16:creationId xmlns:a16="http://schemas.microsoft.com/office/drawing/2014/main" id="{702EE055-EAAD-408C-BB77-9838AC3E5F15}"/>
              </a:ext>
            </a:extLst>
          </p:cNvPr>
          <p:cNvSpPr/>
          <p:nvPr/>
        </p:nvSpPr>
        <p:spPr>
          <a:xfrm>
            <a:off x="4994858" y="4326269"/>
            <a:ext cx="120741" cy="12074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C1AD7DC-2EAF-47D5-8922-21E824F66842}"/>
              </a:ext>
            </a:extLst>
          </p:cNvPr>
          <p:cNvSpPr txBox="1"/>
          <p:nvPr/>
        </p:nvSpPr>
        <p:spPr>
          <a:xfrm>
            <a:off x="5158140" y="4162365"/>
            <a:ext cx="1573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cs typeface="+mn-ea"/>
              </a:rPr>
              <a:t>Vite</a:t>
            </a:r>
            <a:endParaRPr lang="ru-RU" sz="2000" dirty="0">
              <a:cs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FD1FBA4-D605-44D1-A075-CED5A724B571}"/>
              </a:ext>
            </a:extLst>
          </p:cNvPr>
          <p:cNvSpPr txBox="1"/>
          <p:nvPr/>
        </p:nvSpPr>
        <p:spPr>
          <a:xfrm>
            <a:off x="4835332" y="4459370"/>
            <a:ext cx="2731524" cy="1448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200" dirty="0">
                <a:cs typeface="+mn-ea"/>
              </a:rPr>
              <a:t>современный инструмент сборки </a:t>
            </a:r>
            <a:r>
              <a:rPr lang="ru-RU" sz="1200" dirty="0" err="1">
                <a:cs typeface="+mn-ea"/>
              </a:rPr>
              <a:t>фронтенд</a:t>
            </a:r>
            <a:r>
              <a:rPr lang="ru-RU" sz="1200" dirty="0">
                <a:cs typeface="+mn-ea"/>
              </a:rPr>
              <a:t>-приложений, обеспечивающий мгновенный запуск сервера разработки и быструю </a:t>
            </a:r>
            <a:r>
              <a:rPr lang="ru-RU" sz="1200" dirty="0" err="1">
                <a:cs typeface="+mn-ea"/>
              </a:rPr>
              <a:t>пересборку</a:t>
            </a:r>
            <a:r>
              <a:rPr lang="ru-RU" sz="1200" dirty="0">
                <a:cs typeface="+mn-ea"/>
              </a:rPr>
              <a:t> при изменении файлов </a:t>
            </a:r>
          </a:p>
        </p:txBody>
      </p:sp>
    </p:spTree>
    <p:custDataLst>
      <p:tags r:id="rId1"/>
    </p:custDataLst>
  </p:cSld>
  <p:clrMapOvr>
    <a:masterClrMapping/>
  </p:clrMapOvr>
  <p:transition advTm="2000">
    <p:split orient="vert"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图形"/>
          <p:cNvGrpSpPr/>
          <p:nvPr/>
        </p:nvGrpSpPr>
        <p:grpSpPr>
          <a:xfrm>
            <a:off x="-2600325" y="-1465580"/>
            <a:ext cx="15991840" cy="12027535"/>
            <a:chOff x="-4095" y="-2308"/>
            <a:chExt cx="25184" cy="18941"/>
          </a:xfrm>
        </p:grpSpPr>
        <p:sp>
          <p:nvSpPr>
            <p:cNvPr id="16" name="图形"/>
            <p:cNvSpPr/>
            <p:nvPr/>
          </p:nvSpPr>
          <p:spPr>
            <a:xfrm>
              <a:off x="12582" y="-2308"/>
              <a:ext cx="8507" cy="8507"/>
            </a:xfrm>
            <a:prstGeom prst="ellipse">
              <a:avLst/>
            </a:prstGeom>
            <a:gradFill>
              <a:gsLst>
                <a:gs pos="5000">
                  <a:srgbClr val="096AED">
                    <a:alpha val="4000"/>
                  </a:srgbClr>
                </a:gs>
                <a:gs pos="100000">
                  <a:srgbClr val="0695F0">
                    <a:alpha val="23000"/>
                  </a:srgbClr>
                </a:gs>
              </a:gsLst>
              <a:lin ang="2700000" scaled="0"/>
            </a:gra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grpSp>
          <p:nvGrpSpPr>
            <p:cNvPr id="9" name="组合 8"/>
            <p:cNvGrpSpPr/>
            <p:nvPr/>
          </p:nvGrpSpPr>
          <p:grpSpPr>
            <a:xfrm>
              <a:off x="-4095" y="3036"/>
              <a:ext cx="13597" cy="13597"/>
              <a:chOff x="7170" y="5823"/>
              <a:chExt cx="13597" cy="13597"/>
            </a:xfrm>
          </p:grpSpPr>
          <p:sp>
            <p:nvSpPr>
              <p:cNvPr id="8" name="图形"/>
              <p:cNvSpPr/>
              <p:nvPr/>
            </p:nvSpPr>
            <p:spPr>
              <a:xfrm>
                <a:off x="7170" y="5823"/>
                <a:ext cx="13597" cy="13597"/>
              </a:xfrm>
              <a:prstGeom prst="ellipse">
                <a:avLst/>
              </a:prstGeom>
              <a:gradFill>
                <a:gsLst>
                  <a:gs pos="0">
                    <a:srgbClr val="096AED">
                      <a:alpha val="16000"/>
                    </a:srgbClr>
                  </a:gs>
                  <a:gs pos="100000">
                    <a:srgbClr val="0695F0">
                      <a:alpha val="53000"/>
                    </a:srgbClr>
                  </a:gs>
                </a:gsLst>
                <a:lin ang="2700000" scaled="0"/>
              </a:gra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  <p:sp>
            <p:nvSpPr>
              <p:cNvPr id="5" name="图形"/>
              <p:cNvSpPr/>
              <p:nvPr/>
            </p:nvSpPr>
            <p:spPr>
              <a:xfrm flipV="1">
                <a:off x="8762" y="7415"/>
                <a:ext cx="10413" cy="10413"/>
              </a:xfrm>
              <a:prstGeom prst="ellipse">
                <a:avLst/>
              </a:prstGeom>
              <a:gradFill flip="none" rotWithShape="1">
                <a:gsLst>
                  <a:gs pos="5000">
                    <a:srgbClr val="096AED"/>
                  </a:gs>
                  <a:gs pos="100000">
                    <a:srgbClr val="0695F0"/>
                  </a:gs>
                </a:gsLst>
                <a:lin ang="2700000" scaled="0"/>
              </a:gradFill>
              <a:ln>
                <a:noFill/>
              </a:ln>
              <a:effectLst>
                <a:outerShdw blurRad="609600" dist="152400" dir="13500000" algn="br" rotWithShape="0">
                  <a:prstClr val="black">
                    <a:alpha val="2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4400"/>
                <a:endParaRPr lang="zh-CN" altLang="en-US">
                  <a:solidFill>
                    <a:srgbClr val="FFFFFF"/>
                  </a:solidFill>
                  <a:cs typeface="+mn-ea"/>
                  <a:sym typeface="+mn-lt"/>
                </a:endParaRPr>
              </a:p>
            </p:txBody>
          </p:sp>
        </p:grpSp>
        <p:sp>
          <p:nvSpPr>
            <p:cNvPr id="4" name="图形"/>
            <p:cNvSpPr/>
            <p:nvPr/>
          </p:nvSpPr>
          <p:spPr>
            <a:xfrm>
              <a:off x="726" y="1084"/>
              <a:ext cx="17748" cy="8633"/>
            </a:xfrm>
            <a:prstGeom prst="roundRect">
              <a:avLst>
                <a:gd name="adj" fmla="val 5625"/>
              </a:avLst>
            </a:prstGeom>
            <a:solidFill>
              <a:schemeClr val="bg1"/>
            </a:solidFill>
            <a:ln w="19050">
              <a:solidFill>
                <a:schemeClr val="bg1"/>
              </a:solidFill>
            </a:ln>
            <a:effectLst>
              <a:outerShdw blurRad="965200" dist="38100" dir="10800000" algn="r" rotWithShape="0">
                <a:srgbClr val="819CFF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 dirty="0">
                <a:cs typeface="+mn-ea"/>
                <a:sym typeface="+mn-lt"/>
              </a:endParaRPr>
            </a:p>
          </p:txBody>
        </p:sp>
        <p:sp>
          <p:nvSpPr>
            <p:cNvPr id="29" name="图形"/>
            <p:cNvSpPr/>
            <p:nvPr/>
          </p:nvSpPr>
          <p:spPr>
            <a:xfrm rot="10800000" flipH="1">
              <a:off x="13997" y="2901"/>
              <a:ext cx="1092" cy="1092"/>
            </a:xfrm>
            <a:prstGeom prst="ellipse">
              <a:avLst/>
            </a:prstGeom>
            <a:gradFill>
              <a:gsLst>
                <a:gs pos="16000">
                  <a:schemeClr val="bg1">
                    <a:alpha val="0"/>
                  </a:schemeClr>
                </a:gs>
                <a:gs pos="100000">
                  <a:srgbClr val="7AB3FA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1" name="图形"/>
            <p:cNvSpPr>
              <a:spLocks noChangeAspect="1"/>
            </p:cNvSpPr>
            <p:nvPr/>
          </p:nvSpPr>
          <p:spPr>
            <a:xfrm rot="5400000">
              <a:off x="11111" y="8046"/>
              <a:ext cx="204" cy="203"/>
            </a:xfrm>
            <a:prstGeom prst="flowChartConnector">
              <a:avLst/>
            </a:prstGeom>
            <a:gradFill>
              <a:gsLst>
                <a:gs pos="0">
                  <a:srgbClr val="0695F0"/>
                </a:gs>
                <a:gs pos="87000">
                  <a:srgbClr val="096AED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2" name="图形"/>
            <p:cNvSpPr>
              <a:spLocks noChangeAspect="1"/>
            </p:cNvSpPr>
            <p:nvPr/>
          </p:nvSpPr>
          <p:spPr>
            <a:xfrm rot="5400000">
              <a:off x="11456" y="8046"/>
              <a:ext cx="204" cy="203"/>
            </a:xfrm>
            <a:prstGeom prst="flowChartConnector">
              <a:avLst/>
            </a:prstGeom>
            <a:gradFill>
              <a:gsLst>
                <a:gs pos="0">
                  <a:srgbClr val="0695F0"/>
                </a:gs>
                <a:gs pos="87000">
                  <a:srgbClr val="096AED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sp>
          <p:nvSpPr>
            <p:cNvPr id="19" name="图形"/>
            <p:cNvSpPr>
              <a:spLocks noChangeAspect="1"/>
            </p:cNvSpPr>
            <p:nvPr/>
          </p:nvSpPr>
          <p:spPr>
            <a:xfrm rot="5400000">
              <a:off x="11800" y="8046"/>
              <a:ext cx="204" cy="203"/>
            </a:xfrm>
            <a:prstGeom prst="flowChartConnector">
              <a:avLst/>
            </a:prstGeom>
            <a:gradFill>
              <a:gsLst>
                <a:gs pos="0">
                  <a:srgbClr val="0695F0"/>
                </a:gs>
                <a:gs pos="87000">
                  <a:srgbClr val="096AED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  <p:cxnSp>
          <p:nvCxnSpPr>
            <p:cNvPr id="20" name="图形"/>
            <p:cNvCxnSpPr/>
            <p:nvPr/>
          </p:nvCxnSpPr>
          <p:spPr>
            <a:xfrm>
              <a:off x="12582" y="8148"/>
              <a:ext cx="4364" cy="0"/>
            </a:xfrm>
            <a:prstGeom prst="line">
              <a:avLst/>
            </a:prstGeom>
            <a:ln w="12700">
              <a:gradFill>
                <a:gsLst>
                  <a:gs pos="0">
                    <a:srgbClr val="096AED">
                      <a:alpha val="100000"/>
                    </a:srgbClr>
                  </a:gs>
                  <a:gs pos="100000">
                    <a:srgbClr val="0695F0">
                      <a:alpha val="0"/>
                    </a:srgbClr>
                  </a:gs>
                </a:gsLst>
                <a:lin ang="10800000" scaled="1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图形"/>
            <p:cNvSpPr txBox="1"/>
            <p:nvPr/>
          </p:nvSpPr>
          <p:spPr>
            <a:xfrm>
              <a:off x="726" y="1216"/>
              <a:ext cx="17678" cy="10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altLang="zh-CN" sz="3600" dirty="0">
                  <a:solidFill>
                    <a:schemeClr val="tx1">
                      <a:lumMod val="85000"/>
                      <a:lumOff val="15000"/>
                    </a:schemeClr>
                  </a:solidFill>
                  <a:cs typeface="+mn-ea"/>
                  <a:sym typeface="+mn-lt"/>
                </a:rPr>
                <a:t>Описание выполнения индивидуального задания</a:t>
              </a:r>
              <a:endParaRPr lang="en-US" altLang="zh-CN" sz="3600" dirty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  <a:sym typeface="+mn-lt"/>
              </a:endParaRPr>
            </a:p>
          </p:txBody>
        </p:sp>
        <p:sp>
          <p:nvSpPr>
            <p:cNvPr id="13" name="图形"/>
            <p:cNvSpPr txBox="1"/>
            <p:nvPr/>
          </p:nvSpPr>
          <p:spPr>
            <a:xfrm>
              <a:off x="1100" y="2960"/>
              <a:ext cx="15929" cy="159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ru-RU" altLang="zh-CN" sz="2000" dirty="0">
                  <a:cs typeface="+mn-ea"/>
                  <a:sym typeface="+mn-lt"/>
                </a:rPr>
                <a:t>В рамках индивидуального задания была разработана система панелей управления для двух ролей пользователей — студента и преподавателя — с соответствующим функционалом и правами доступа. </a:t>
              </a:r>
              <a:endParaRPr lang="zh-CN" altLang="en-US" sz="2000" dirty="0">
                <a:solidFill>
                  <a:srgbClr val="0865D8"/>
                </a:solidFill>
                <a:cs typeface="+mn-ea"/>
                <a:sym typeface="+mn-lt"/>
              </a:endParaRPr>
            </a:p>
          </p:txBody>
        </p:sp>
        <p:sp>
          <p:nvSpPr>
            <p:cNvPr id="22" name="图形"/>
            <p:cNvSpPr/>
            <p:nvPr/>
          </p:nvSpPr>
          <p:spPr>
            <a:xfrm flipV="1">
              <a:off x="7932" y="6378"/>
              <a:ext cx="309" cy="309"/>
            </a:xfrm>
            <a:prstGeom prst="ellipse">
              <a:avLst/>
            </a:prstGeom>
            <a:noFill/>
            <a:ln w="0">
              <a:gradFill>
                <a:gsLst>
                  <a:gs pos="0">
                    <a:srgbClr val="096AED"/>
                  </a:gs>
                  <a:gs pos="100000">
                    <a:srgbClr val="0695F0"/>
                  </a:gs>
                </a:gsLst>
                <a:lin ang="10800000" scaled="1"/>
              </a:gradFill>
            </a:ln>
            <a:effectLst>
              <a:outerShdw blurRad="609600" dist="1524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endParaRPr lang="zh-CN" altLang="en-US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6E47655-09D3-4BD2-983D-0A1E886B5013}"/>
              </a:ext>
            </a:extLst>
          </p:cNvPr>
          <p:cNvSpPr txBox="1"/>
          <p:nvPr/>
        </p:nvSpPr>
        <p:spPr>
          <a:xfrm>
            <a:off x="586595" y="3429000"/>
            <a:ext cx="3209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zh-CN" sz="2000" dirty="0">
                <a:cs typeface="+mn-ea"/>
                <a:sym typeface="+mn-lt"/>
              </a:rPr>
              <a:t>Для студента реализована</a:t>
            </a:r>
            <a:r>
              <a:rPr lang="en-US" altLang="zh-CN" sz="2000" dirty="0">
                <a:cs typeface="+mn-ea"/>
                <a:sym typeface="+mn-lt"/>
              </a:rPr>
              <a:t>:</a:t>
            </a:r>
            <a:endParaRPr lang="ru-RU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9B82BB-B60F-4E58-87A4-171948ECE9CF}"/>
              </a:ext>
            </a:extLst>
          </p:cNvPr>
          <p:cNvSpPr txBox="1"/>
          <p:nvPr/>
        </p:nvSpPr>
        <p:spPr>
          <a:xfrm>
            <a:off x="7403783" y="3429000"/>
            <a:ext cx="432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altLang="zh-CN" sz="1800" dirty="0">
                <a:cs typeface="+mn-ea"/>
                <a:sym typeface="+mn-lt"/>
              </a:rPr>
              <a:t>Для преподавателя доступен</a:t>
            </a:r>
            <a:r>
              <a:rPr lang="en-US" altLang="zh-CN" sz="1800" dirty="0">
                <a:cs typeface="+mn-ea"/>
                <a:sym typeface="+mn-lt"/>
              </a:rPr>
              <a:t>: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2CD93A-8465-4690-B6B9-35F54BBF6AC6}"/>
              </a:ext>
            </a:extLst>
          </p:cNvPr>
          <p:cNvSpPr txBox="1"/>
          <p:nvPr/>
        </p:nvSpPr>
        <p:spPr>
          <a:xfrm>
            <a:off x="698740" y="3936365"/>
            <a:ext cx="255341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Панель курсов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Выполнение </a:t>
            </a:r>
            <a:r>
              <a:rPr lang="ru-RU" sz="2000" dirty="0" err="1"/>
              <a:t>дз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Голосовой ИИ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8EEDB0-7F22-4D10-B3E3-BEA514BA625D}"/>
              </a:ext>
            </a:extLst>
          </p:cNvPr>
          <p:cNvSpPr txBox="1"/>
          <p:nvPr/>
        </p:nvSpPr>
        <p:spPr>
          <a:xfrm>
            <a:off x="7622222" y="3945780"/>
            <a:ext cx="34886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Журнал успеваемости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Мастерская </a:t>
            </a:r>
            <a:r>
              <a:rPr lang="ru-RU" sz="2000" dirty="0" err="1"/>
              <a:t>дз</a:t>
            </a: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Инструмент ИИ проверки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24068785"/>
      </p:ext>
    </p:extLst>
  </p:cSld>
  <p:clrMapOvr>
    <a:masterClrMapping/>
  </p:clrMapOvr>
  <p:transition advTm="2000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图形"/>
          <p:cNvSpPr/>
          <p:nvPr/>
        </p:nvSpPr>
        <p:spPr>
          <a:xfrm>
            <a:off x="687195" y="1620975"/>
            <a:ext cx="10120382" cy="702733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>
              <a:gradFill>
                <a:gsLst>
                  <a:gs pos="100000">
                    <a:srgbClr val="2942C3"/>
                  </a:gs>
                  <a:gs pos="2000">
                    <a:srgbClr val="1387E2"/>
                  </a:gs>
                </a:gsLst>
                <a:lin ang="5400000" scaled="0"/>
              </a:gradFill>
              <a:effectLst>
                <a:outerShdw blurRad="50800" dist="38100" dir="2700000" algn="tl" rotWithShape="0">
                  <a:schemeClr val="bg1">
                    <a:alpha val="40000"/>
                  </a:schemeClr>
                </a:outerShdw>
              </a:effectLst>
              <a:cs typeface="+mn-ea"/>
              <a:sym typeface="+mn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Постановка задачи ВКР</a:t>
            </a:r>
            <a:endParaRPr lang="ru-RU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73EEA89-3635-4F32-A69F-6CF6309235EA}"/>
              </a:ext>
            </a:extLst>
          </p:cNvPr>
          <p:cNvSpPr txBox="1"/>
          <p:nvPr/>
        </p:nvSpPr>
        <p:spPr>
          <a:xfrm>
            <a:off x="687195" y="1141345"/>
            <a:ext cx="10205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Тема ВКР</a:t>
            </a:r>
            <a:r>
              <a:rPr lang="en-US" sz="2400" dirty="0"/>
              <a:t>:</a:t>
            </a:r>
          </a:p>
          <a:p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8455AF-5F83-4209-A770-00C2FCF0EC9A}"/>
              </a:ext>
            </a:extLst>
          </p:cNvPr>
          <p:cNvSpPr txBox="1"/>
          <p:nvPr/>
        </p:nvSpPr>
        <p:spPr>
          <a:xfrm>
            <a:off x="687195" y="1667887"/>
            <a:ext cx="96476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0" i="0" dirty="0">
                <a:solidFill>
                  <a:srgbClr val="000000"/>
                </a:solidFill>
                <a:effectLst/>
              </a:rPr>
              <a:t>Разработка голосового ассистента на основе искусственного интеллекта для интерактивной помощи при прохождении образовательных курсов</a:t>
            </a:r>
            <a:endParaRPr lang="ru-RU" sz="1800" dirty="0">
              <a:solidFill>
                <a:schemeClr val="tx1">
                  <a:lumMod val="85000"/>
                  <a:lumOff val="15000"/>
                </a:schemeClr>
              </a:solidFill>
              <a:cs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DC33DB-864C-4EB0-9A32-2469DFCF20B5}"/>
              </a:ext>
            </a:extLst>
          </p:cNvPr>
          <p:cNvSpPr txBox="1"/>
          <p:nvPr/>
        </p:nvSpPr>
        <p:spPr>
          <a:xfrm>
            <a:off x="551730" y="2570353"/>
            <a:ext cx="25525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Цель</a:t>
            </a:r>
          </a:p>
        </p:txBody>
      </p:sp>
      <p:sp>
        <p:nvSpPr>
          <p:cNvPr id="43" name="图形">
            <a:extLst>
              <a:ext uri="{FF2B5EF4-FFF2-40B4-BE49-F238E27FC236}">
                <a16:creationId xmlns:a16="http://schemas.microsoft.com/office/drawing/2014/main" id="{40F2281D-A7E1-4954-89BC-8C206732E8A8}"/>
              </a:ext>
            </a:extLst>
          </p:cNvPr>
          <p:cNvSpPr/>
          <p:nvPr/>
        </p:nvSpPr>
        <p:spPr>
          <a:xfrm>
            <a:off x="551729" y="3095599"/>
            <a:ext cx="2552577" cy="199069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>
              <a:gradFill>
                <a:gsLst>
                  <a:gs pos="100000">
                    <a:srgbClr val="2942C3"/>
                  </a:gs>
                  <a:gs pos="2000">
                    <a:srgbClr val="1387E2"/>
                  </a:gs>
                </a:gsLst>
                <a:lin ang="5400000" scaled="0"/>
              </a:gradFill>
              <a:effectLst>
                <a:outerShdw blurRad="50800" dist="38100" dir="2700000" algn="tl" rotWithShape="0">
                  <a:schemeClr val="bg1">
                    <a:alpha val="40000"/>
                  </a:scheme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6CF5EB-32A0-43B0-964B-031127FDB4ED}"/>
              </a:ext>
            </a:extLst>
          </p:cNvPr>
          <p:cNvSpPr txBox="1"/>
          <p:nvPr/>
        </p:nvSpPr>
        <p:spPr>
          <a:xfrm>
            <a:off x="551729" y="3735992"/>
            <a:ext cx="2552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/>
                </a:solidFill>
              </a:rPr>
              <a:t>C</a:t>
            </a:r>
            <a:r>
              <a:rPr lang="ru-RU" dirty="0" err="1">
                <a:solidFill>
                  <a:srgbClr val="000000"/>
                </a:solidFill>
              </a:rPr>
              <a:t>окращение</a:t>
            </a:r>
            <a:r>
              <a:rPr lang="ru-RU" dirty="0">
                <a:solidFill>
                  <a:srgbClr val="000000"/>
                </a:solidFill>
              </a:rPr>
              <a:t> времени на навигацию по сайту</a:t>
            </a:r>
          </a:p>
        </p:txBody>
      </p:sp>
      <p:sp>
        <p:nvSpPr>
          <p:cNvPr id="45" name="图形">
            <a:extLst>
              <a:ext uri="{FF2B5EF4-FFF2-40B4-BE49-F238E27FC236}">
                <a16:creationId xmlns:a16="http://schemas.microsoft.com/office/drawing/2014/main" id="{96DE4C06-0F27-4546-8A26-EE96E07D40A8}"/>
              </a:ext>
            </a:extLst>
          </p:cNvPr>
          <p:cNvSpPr/>
          <p:nvPr/>
        </p:nvSpPr>
        <p:spPr>
          <a:xfrm>
            <a:off x="6677443" y="3095599"/>
            <a:ext cx="4433380" cy="199069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>
              <a:gradFill>
                <a:gsLst>
                  <a:gs pos="100000">
                    <a:srgbClr val="2942C3"/>
                  </a:gs>
                  <a:gs pos="2000">
                    <a:srgbClr val="1387E2"/>
                  </a:gs>
                </a:gsLst>
                <a:lin ang="5400000" scaled="0"/>
              </a:gradFill>
              <a:effectLst>
                <a:outerShdw blurRad="50800" dist="38100" dir="2700000" algn="tl" rotWithShape="0">
                  <a:schemeClr val="bg1">
                    <a:alpha val="40000"/>
                  </a:scheme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521172D-F01E-41FF-9016-7590BC148216}"/>
              </a:ext>
            </a:extLst>
          </p:cNvPr>
          <p:cNvSpPr txBox="1"/>
          <p:nvPr/>
        </p:nvSpPr>
        <p:spPr>
          <a:xfrm>
            <a:off x="6763707" y="3278663"/>
            <a:ext cx="43471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Перевод голосовой команды в последовательность выбора элемента меню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solidFill>
                <a:srgbClr val="0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Имитация ИИ действий пользователя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AEE481-7008-435E-893E-3AFC4F92BB0D}"/>
              </a:ext>
            </a:extLst>
          </p:cNvPr>
          <p:cNvSpPr txBox="1"/>
          <p:nvPr/>
        </p:nvSpPr>
        <p:spPr>
          <a:xfrm>
            <a:off x="6677443" y="2570353"/>
            <a:ext cx="4433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Задача</a:t>
            </a:r>
          </a:p>
        </p:txBody>
      </p:sp>
    </p:spTree>
    <p:custDataLst>
      <p:tags r:id="rId1"/>
    </p:custDataLst>
  </p:cSld>
  <p:clrMapOvr>
    <a:masterClrMapping/>
  </p:clrMapOvr>
  <p:transition advTm="2000">
    <p:comb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Анализ стандартных средств и существующих способов решения задачи</a:t>
            </a:r>
            <a:endParaRPr lang="ru-RU" sz="28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1A19802-8168-4139-8AE3-FEA2C46F1C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95" y="2065667"/>
            <a:ext cx="808367" cy="808367"/>
          </a:xfrm>
          <a:prstGeom prst="rect">
            <a:avLst/>
          </a:prstGeom>
        </p:spPr>
      </p:pic>
      <p:sp>
        <p:nvSpPr>
          <p:cNvPr id="15" name="图形">
            <a:extLst>
              <a:ext uri="{FF2B5EF4-FFF2-40B4-BE49-F238E27FC236}">
                <a16:creationId xmlns:a16="http://schemas.microsoft.com/office/drawing/2014/main" id="{E3B86EF0-621B-42B0-B5E7-B6519202CFCC}"/>
              </a:ext>
            </a:extLst>
          </p:cNvPr>
          <p:cNvSpPr/>
          <p:nvPr/>
        </p:nvSpPr>
        <p:spPr>
          <a:xfrm>
            <a:off x="1722365" y="2118483"/>
            <a:ext cx="10120382" cy="702733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altLang="zh-CN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Голосовой ассистент компании Яндекс, реализующий навигацию через голосовые команды. В разрабатываемой системе будет заимствована концепция навигационных </a:t>
            </a:r>
            <a:r>
              <a:rPr lang="ru-RU" altLang="zh-CN" dirty="0" err="1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интентов</a:t>
            </a:r>
            <a:r>
              <a:rPr lang="ru-RU" altLang="zh-CN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.</a:t>
            </a:r>
            <a:endParaRPr lang="zh-CN" altLang="en-US" dirty="0">
              <a:solidFill>
                <a:schemeClr val="tx1"/>
              </a:solidFill>
              <a:effectLst>
                <a:outerShdw blurRad="50800" dist="38100" dir="2700000" algn="tl" rotWithShape="0">
                  <a:schemeClr val="bg1">
                    <a:alpha val="40000"/>
                  </a:schemeClr>
                </a:outerShdw>
              </a:effectLst>
              <a:cs typeface="+mn-ea"/>
              <a:sym typeface="+mn-lt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9811A24-7165-4DDD-9BA0-8D3665BFA29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402" y="3294398"/>
            <a:ext cx="1377951" cy="1199965"/>
          </a:xfrm>
          <a:prstGeom prst="rect">
            <a:avLst/>
          </a:prstGeom>
        </p:spPr>
      </p:pic>
      <p:sp>
        <p:nvSpPr>
          <p:cNvPr id="18" name="图形">
            <a:extLst>
              <a:ext uri="{FF2B5EF4-FFF2-40B4-BE49-F238E27FC236}">
                <a16:creationId xmlns:a16="http://schemas.microsoft.com/office/drawing/2014/main" id="{EF45FDD1-07C9-486E-8834-FC38C76B4FF9}"/>
              </a:ext>
            </a:extLst>
          </p:cNvPr>
          <p:cNvSpPr/>
          <p:nvPr/>
        </p:nvSpPr>
        <p:spPr>
          <a:xfrm>
            <a:off x="1722365" y="3543013"/>
            <a:ext cx="10120382" cy="702733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altLang="zh-CN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Российская платформа чат-ботов с поддержкой ответов из загруженных документов. В разрабатываемой системе будет заимствована архитектура RAG.</a:t>
            </a:r>
            <a:endParaRPr lang="zh-CN" altLang="en-US" dirty="0">
              <a:solidFill>
                <a:schemeClr val="tx1"/>
              </a:solidFill>
              <a:effectLst>
                <a:outerShdw blurRad="50800" dist="38100" dir="2700000" algn="tl" rotWithShape="0">
                  <a:schemeClr val="bg1">
                    <a:alpha val="40000"/>
                  </a:schemeClr>
                </a:outerShdw>
              </a:effectLst>
              <a:cs typeface="+mn-ea"/>
              <a:sym typeface="+mn-lt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32C912F-B45B-45F6-9B72-53AAFDC0D7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8770" y="4914727"/>
            <a:ext cx="885213" cy="885213"/>
          </a:xfrm>
          <a:prstGeom prst="rect">
            <a:avLst/>
          </a:prstGeom>
        </p:spPr>
      </p:pic>
      <p:sp>
        <p:nvSpPr>
          <p:cNvPr id="25" name="图形">
            <a:extLst>
              <a:ext uri="{FF2B5EF4-FFF2-40B4-BE49-F238E27FC236}">
                <a16:creationId xmlns:a16="http://schemas.microsoft.com/office/drawing/2014/main" id="{2F50C52B-1C23-44D0-A1ED-0781733EC4EC}"/>
              </a:ext>
            </a:extLst>
          </p:cNvPr>
          <p:cNvSpPr/>
          <p:nvPr/>
        </p:nvSpPr>
        <p:spPr>
          <a:xfrm>
            <a:off x="1722365" y="5005966"/>
            <a:ext cx="10120382" cy="702733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altLang="zh-CN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Встроенный ИИ-ассистент платформы Битрикс24. В разрабатываемой системе будет заимствована концепция контекстной осведомлённости.</a:t>
            </a:r>
            <a:endParaRPr lang="zh-CN" altLang="en-US" dirty="0">
              <a:solidFill>
                <a:schemeClr val="tx1"/>
              </a:solidFill>
              <a:effectLst>
                <a:outerShdw blurRad="50800" dist="38100" dir="2700000" algn="tl" rotWithShape="0">
                  <a:schemeClr val="bg1">
                    <a:alpha val="40000"/>
                  </a:schemeClr>
                </a:outerShdw>
              </a:effectLst>
              <a:cs typeface="+mn-ea"/>
              <a:sym typeface="+mn-lt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4080244"/>
      </p:ext>
    </p:extLst>
  </p:cSld>
  <p:clrMapOvr>
    <a:masterClrMapping/>
  </p:clrMapOvr>
  <p:transition advTm="2000">
    <p:comb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Объекты автоматизации (автоматизируемые процессы), объекты управления, информационные объекты. Пользователи и внешние сущности</a:t>
            </a:r>
            <a:endParaRPr lang="ru-RU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65971-8AE4-4DA6-99A1-1D19E6D652A1}"/>
              </a:ext>
            </a:extLst>
          </p:cNvPr>
          <p:cNvSpPr txBox="1"/>
          <p:nvPr/>
        </p:nvSpPr>
        <p:spPr>
          <a:xfrm>
            <a:off x="204115" y="2161719"/>
            <a:ext cx="469568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Автоматизируемые процессы</a:t>
            </a:r>
          </a:p>
        </p:txBody>
      </p:sp>
      <p:sp>
        <p:nvSpPr>
          <p:cNvPr id="12" name="图形">
            <a:extLst>
              <a:ext uri="{FF2B5EF4-FFF2-40B4-BE49-F238E27FC236}">
                <a16:creationId xmlns:a16="http://schemas.microsoft.com/office/drawing/2014/main" id="{CA19A2B8-C965-4D4F-8862-1B4AF70F1600}"/>
              </a:ext>
            </a:extLst>
          </p:cNvPr>
          <p:cNvSpPr/>
          <p:nvPr/>
        </p:nvSpPr>
        <p:spPr>
          <a:xfrm>
            <a:off x="204115" y="2623384"/>
            <a:ext cx="4695689" cy="411384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zh-CN" sz="20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Процесс обучения с применением интеллектуальных алгоритмов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zh-CN" sz="20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Формирование персонализированных рекомендаций на основе прогресса обучения и предпочтений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zh-CN" sz="20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Аналитика учебной деятельности и пользовательской активности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zh-CN" sz="20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Управление проверкой домашних заданий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E6CC95-6E4C-4D48-A606-5D7028EBE16D}"/>
              </a:ext>
            </a:extLst>
          </p:cNvPr>
          <p:cNvSpPr txBox="1"/>
          <p:nvPr/>
        </p:nvSpPr>
        <p:spPr>
          <a:xfrm>
            <a:off x="6096000" y="2172585"/>
            <a:ext cx="469568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Объекты управления</a:t>
            </a:r>
          </a:p>
        </p:txBody>
      </p:sp>
      <p:sp>
        <p:nvSpPr>
          <p:cNvPr id="14" name="图形">
            <a:extLst>
              <a:ext uri="{FF2B5EF4-FFF2-40B4-BE49-F238E27FC236}">
                <a16:creationId xmlns:a16="http://schemas.microsoft.com/office/drawing/2014/main" id="{92257085-7E16-478B-A3A3-D6DCAF4A70C4}"/>
              </a:ext>
            </a:extLst>
          </p:cNvPr>
          <p:cNvSpPr/>
          <p:nvPr/>
        </p:nvSpPr>
        <p:spPr>
          <a:xfrm>
            <a:off x="6096000" y="2634251"/>
            <a:ext cx="4695689" cy="93708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0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Системное меню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0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Функции системы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A6C0EF-A588-47E6-9C68-83E473F9DCB9}"/>
              </a:ext>
            </a:extLst>
          </p:cNvPr>
          <p:cNvSpPr txBox="1"/>
          <p:nvPr/>
        </p:nvSpPr>
        <p:spPr>
          <a:xfrm>
            <a:off x="6096000" y="3829691"/>
            <a:ext cx="4695689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Информационные объекты</a:t>
            </a:r>
          </a:p>
        </p:txBody>
      </p:sp>
      <p:sp>
        <p:nvSpPr>
          <p:cNvPr id="19" name="图形">
            <a:extLst>
              <a:ext uri="{FF2B5EF4-FFF2-40B4-BE49-F238E27FC236}">
                <a16:creationId xmlns:a16="http://schemas.microsoft.com/office/drawing/2014/main" id="{E013DF7B-5104-4D70-BD4D-2D67C1569F7B}"/>
              </a:ext>
            </a:extLst>
          </p:cNvPr>
          <p:cNvSpPr/>
          <p:nvPr/>
        </p:nvSpPr>
        <p:spPr>
          <a:xfrm>
            <a:off x="6096000" y="4518900"/>
            <a:ext cx="4695689" cy="93708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altLang="zh-CN" sz="20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Методические материалы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altLang="zh-CN" sz="20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Справочники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39549688"/>
      </p:ext>
    </p:extLst>
  </p:cSld>
  <p:clrMapOvr>
    <a:masterClrMapping/>
  </p:clrMapOvr>
  <p:transition advTm="2000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Объекты автоматизации (автоматизируемые процессы), объекты управления, информационные объекты. Пользователи и внешние сущности</a:t>
            </a:r>
            <a:endParaRPr lang="ru-RU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13724E-E5CA-4A3C-B690-E3B9D277BD5F}"/>
              </a:ext>
            </a:extLst>
          </p:cNvPr>
          <p:cNvSpPr txBox="1"/>
          <p:nvPr/>
        </p:nvSpPr>
        <p:spPr>
          <a:xfrm>
            <a:off x="285401" y="2336954"/>
            <a:ext cx="4985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Пользователи</a:t>
            </a:r>
          </a:p>
        </p:txBody>
      </p:sp>
      <p:sp>
        <p:nvSpPr>
          <p:cNvPr id="15" name="图形">
            <a:extLst>
              <a:ext uri="{FF2B5EF4-FFF2-40B4-BE49-F238E27FC236}">
                <a16:creationId xmlns:a16="http://schemas.microsoft.com/office/drawing/2014/main" id="{08CA77A9-683F-446D-AF9D-96897FFEDDF3}"/>
              </a:ext>
            </a:extLst>
          </p:cNvPr>
          <p:cNvSpPr/>
          <p:nvPr/>
        </p:nvSpPr>
        <p:spPr>
          <a:xfrm>
            <a:off x="285401" y="2829790"/>
            <a:ext cx="4985339" cy="208001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Студент: роль – пользователь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Преподаватель: роль – преподаватель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Администратор: роль – администратор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E28ACE-D8FC-4C8C-BE3D-B68F451AE5C9}"/>
              </a:ext>
            </a:extLst>
          </p:cNvPr>
          <p:cNvSpPr txBox="1"/>
          <p:nvPr/>
        </p:nvSpPr>
        <p:spPr>
          <a:xfrm>
            <a:off x="6010465" y="2336954"/>
            <a:ext cx="4985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Внешние сущности</a:t>
            </a:r>
          </a:p>
        </p:txBody>
      </p:sp>
      <p:sp>
        <p:nvSpPr>
          <p:cNvPr id="18" name="图形">
            <a:extLst>
              <a:ext uri="{FF2B5EF4-FFF2-40B4-BE49-F238E27FC236}">
                <a16:creationId xmlns:a16="http://schemas.microsoft.com/office/drawing/2014/main" id="{74DBBEFF-BD0F-4247-BE79-67DA0D98FD9E}"/>
              </a:ext>
            </a:extLst>
          </p:cNvPr>
          <p:cNvSpPr/>
          <p:nvPr/>
        </p:nvSpPr>
        <p:spPr>
          <a:xfrm>
            <a:off x="6010465" y="2829790"/>
            <a:ext cx="4985339" cy="208001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Студент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Преподаватель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25292783"/>
      </p:ext>
    </p:extLst>
  </p:cSld>
  <p:clrMapOvr>
    <a:masterClrMapping/>
  </p:clrMapOvr>
  <p:transition advTm="2000">
    <p:comb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Функции системы</a:t>
            </a:r>
            <a:endParaRPr lang="ru-RU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13724E-E5CA-4A3C-B690-E3B9D277BD5F}"/>
              </a:ext>
            </a:extLst>
          </p:cNvPr>
          <p:cNvSpPr txBox="1"/>
          <p:nvPr/>
        </p:nvSpPr>
        <p:spPr>
          <a:xfrm>
            <a:off x="86994" y="1457621"/>
            <a:ext cx="4985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Для студента:</a:t>
            </a:r>
          </a:p>
        </p:txBody>
      </p:sp>
      <p:sp>
        <p:nvSpPr>
          <p:cNvPr id="15" name="图形">
            <a:extLst>
              <a:ext uri="{FF2B5EF4-FFF2-40B4-BE49-F238E27FC236}">
                <a16:creationId xmlns:a16="http://schemas.microsoft.com/office/drawing/2014/main" id="{08CA77A9-683F-446D-AF9D-96897FFEDDF3}"/>
              </a:ext>
            </a:extLst>
          </p:cNvPr>
          <p:cNvSpPr/>
          <p:nvPr/>
        </p:nvSpPr>
        <p:spPr>
          <a:xfrm>
            <a:off x="199137" y="2113798"/>
            <a:ext cx="4985339" cy="446815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Взаимодействие с голосовым ассистентом в реальном времени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Получение подсказок по заданиям от ИИ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Навигация по содержимому курса от ИИ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E28ACE-D8FC-4C8C-BE3D-B68F451AE5C9}"/>
              </a:ext>
            </a:extLst>
          </p:cNvPr>
          <p:cNvSpPr txBox="1"/>
          <p:nvPr/>
        </p:nvSpPr>
        <p:spPr>
          <a:xfrm>
            <a:off x="6010465" y="1457621"/>
            <a:ext cx="4985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Для преподавателя</a:t>
            </a:r>
            <a:r>
              <a:rPr lang="en-US" sz="2400" dirty="0">
                <a:solidFill>
                  <a:srgbClr val="000000"/>
                </a:solidFill>
                <a:ea typeface="+mj-ea"/>
                <a:cs typeface="+mj-cs"/>
              </a:rPr>
              <a:t>:</a:t>
            </a:r>
            <a:endParaRPr lang="ru-RU" sz="2400" dirty="0">
              <a:solidFill>
                <a:srgbClr val="000000"/>
              </a:solidFill>
              <a:ea typeface="+mj-ea"/>
              <a:cs typeface="+mj-cs"/>
            </a:endParaRPr>
          </a:p>
        </p:txBody>
      </p:sp>
      <p:sp>
        <p:nvSpPr>
          <p:cNvPr id="18" name="图形">
            <a:extLst>
              <a:ext uri="{FF2B5EF4-FFF2-40B4-BE49-F238E27FC236}">
                <a16:creationId xmlns:a16="http://schemas.microsoft.com/office/drawing/2014/main" id="{74DBBEFF-BD0F-4247-BE79-67DA0D98FD9E}"/>
              </a:ext>
            </a:extLst>
          </p:cNvPr>
          <p:cNvSpPr/>
          <p:nvPr/>
        </p:nvSpPr>
        <p:spPr>
          <a:xfrm>
            <a:off x="6010465" y="2113798"/>
            <a:ext cx="4985339" cy="446815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Запуск автоматической ИИ проверки домашних заданий</a:t>
            </a:r>
            <a:endParaRPr lang="en-US" altLang="zh-CN" sz="2400" dirty="0">
              <a:solidFill>
                <a:schemeClr val="tx1"/>
              </a:solidFill>
              <a:effectLst>
                <a:outerShdw blurRad="50800" dist="38100" dir="2700000" algn="tl" rotWithShape="0">
                  <a:schemeClr val="bg1">
                    <a:alpha val="40000"/>
                  </a:schemeClr>
                </a:outerShdw>
              </a:effectLst>
              <a:cs typeface="+mn-ea"/>
              <a:sym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Взаимодействие с голосовым ассистентом в реальном времени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Помощь в создании домашних заданий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4970073"/>
      </p:ext>
    </p:extLst>
  </p:cSld>
  <p:clrMapOvr>
    <a:masterClrMapping/>
  </p:clrMapOvr>
  <p:transition advTm="2000">
    <p:comb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Ограничения системы</a:t>
            </a:r>
            <a:endParaRPr lang="ru-RU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13724E-E5CA-4A3C-B690-E3B9D277BD5F}"/>
              </a:ext>
            </a:extLst>
          </p:cNvPr>
          <p:cNvSpPr txBox="1"/>
          <p:nvPr/>
        </p:nvSpPr>
        <p:spPr>
          <a:xfrm>
            <a:off x="199137" y="1457621"/>
            <a:ext cx="1127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В системе должны быть реализованы ограничение описанные ниже</a:t>
            </a:r>
          </a:p>
        </p:txBody>
      </p:sp>
      <p:sp>
        <p:nvSpPr>
          <p:cNvPr id="15" name="图形">
            <a:extLst>
              <a:ext uri="{FF2B5EF4-FFF2-40B4-BE49-F238E27FC236}">
                <a16:creationId xmlns:a16="http://schemas.microsoft.com/office/drawing/2014/main" id="{08CA77A9-683F-446D-AF9D-96897FFEDDF3}"/>
              </a:ext>
            </a:extLst>
          </p:cNvPr>
          <p:cNvSpPr/>
          <p:nvPr/>
        </p:nvSpPr>
        <p:spPr>
          <a:xfrm>
            <a:off x="199137" y="2113798"/>
            <a:ext cx="11273196" cy="191633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Не более 5 одновременных запросов к ИИ ассистенту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Не более 5 минут ожидания ответа от ИИ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Ответ </a:t>
            </a:r>
            <a:r>
              <a:rPr lang="ru-RU" altLang="zh-CN" sz="2400" dirty="0" err="1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ии</a:t>
            </a: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 не более 500 слов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Вопрос к </a:t>
            </a:r>
            <a:r>
              <a:rPr lang="ru-RU" altLang="zh-CN" sz="2400" dirty="0" err="1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ии</a:t>
            </a: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 не более 300 слов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61225677"/>
      </p:ext>
    </p:extLst>
  </p:cSld>
  <p:clrMapOvr>
    <a:masterClrMapping/>
  </p:clrMapOvr>
  <p:transition advTm="2000">
    <p:comb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Критерии оценки результатов</a:t>
            </a:r>
            <a:endParaRPr lang="ru-RU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13724E-E5CA-4A3C-B690-E3B9D277BD5F}"/>
              </a:ext>
            </a:extLst>
          </p:cNvPr>
          <p:cNvSpPr txBox="1"/>
          <p:nvPr/>
        </p:nvSpPr>
        <p:spPr>
          <a:xfrm>
            <a:off x="199137" y="1457621"/>
            <a:ext cx="1127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Критерии:</a:t>
            </a:r>
          </a:p>
        </p:txBody>
      </p:sp>
      <p:sp>
        <p:nvSpPr>
          <p:cNvPr id="15" name="图形">
            <a:extLst>
              <a:ext uri="{FF2B5EF4-FFF2-40B4-BE49-F238E27FC236}">
                <a16:creationId xmlns:a16="http://schemas.microsoft.com/office/drawing/2014/main" id="{08CA77A9-683F-446D-AF9D-96897FFEDDF3}"/>
              </a:ext>
            </a:extLst>
          </p:cNvPr>
          <p:cNvSpPr/>
          <p:nvPr/>
        </p:nvSpPr>
        <p:spPr>
          <a:xfrm>
            <a:off x="199136" y="2113798"/>
            <a:ext cx="11713463" cy="3990669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Система должна уметь переходить не менее чем по 10 уровням вложенности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Граф навигации должен содержать не менее 20 узлов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Система должна корректно разрешать не менее 15 различных голосовых команд для перехода между страницами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Время отклика голосового ассистента 3 секунды – это половина от текущего времени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0666018"/>
      </p:ext>
    </p:extLst>
  </p:cSld>
  <p:clrMapOvr>
    <a:masterClrMapping/>
  </p:clrMapOvr>
  <p:transition advTm="2000">
    <p:comb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Основные процессы</a:t>
            </a:r>
            <a:endParaRPr lang="ru-RU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13724E-E5CA-4A3C-B690-E3B9D277BD5F}"/>
              </a:ext>
            </a:extLst>
          </p:cNvPr>
          <p:cNvSpPr txBox="1"/>
          <p:nvPr/>
        </p:nvSpPr>
        <p:spPr>
          <a:xfrm>
            <a:off x="199137" y="1457621"/>
            <a:ext cx="112731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rgbClr val="000000"/>
                </a:solidFill>
                <a:ea typeface="+mj-ea"/>
                <a:cs typeface="+mj-cs"/>
              </a:rPr>
              <a:t>Основными процессами являются:</a:t>
            </a:r>
          </a:p>
        </p:txBody>
      </p:sp>
      <p:sp>
        <p:nvSpPr>
          <p:cNvPr id="15" name="图形">
            <a:extLst>
              <a:ext uri="{FF2B5EF4-FFF2-40B4-BE49-F238E27FC236}">
                <a16:creationId xmlns:a16="http://schemas.microsoft.com/office/drawing/2014/main" id="{08CA77A9-683F-446D-AF9D-96897FFEDDF3}"/>
              </a:ext>
            </a:extLst>
          </p:cNvPr>
          <p:cNvSpPr/>
          <p:nvPr/>
        </p:nvSpPr>
        <p:spPr>
          <a:xfrm>
            <a:off x="453137" y="2799599"/>
            <a:ext cx="4101930" cy="312706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altLang="zh-CN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Обучение с помощью домашних заданий и курсов</a:t>
            </a:r>
          </a:p>
        </p:txBody>
      </p:sp>
      <p:sp>
        <p:nvSpPr>
          <p:cNvPr id="6" name="图形">
            <a:extLst>
              <a:ext uri="{FF2B5EF4-FFF2-40B4-BE49-F238E27FC236}">
                <a16:creationId xmlns:a16="http://schemas.microsoft.com/office/drawing/2014/main" id="{C6F6B6C0-7FA1-4172-AFA2-524584D29C3D}"/>
              </a:ext>
            </a:extLst>
          </p:cNvPr>
          <p:cNvSpPr/>
          <p:nvPr/>
        </p:nvSpPr>
        <p:spPr>
          <a:xfrm>
            <a:off x="6769270" y="2799599"/>
            <a:ext cx="4101930" cy="312706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609600" dist="38100" dir="2700000" algn="tl" rotWithShape="0">
              <a:srgbClr val="6151DE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 eaLnBrk="1" latinLnBrk="0" hangingPunct="1">
              <a:spcBef>
                <a:spcPts val="0"/>
              </a:spcBef>
              <a:spcAft>
                <a:spcPts val="0"/>
              </a:spcAft>
              <a:buClrTx/>
              <a:buSzPts val="2400"/>
            </a:pPr>
            <a:r>
              <a:rPr lang="ru-RU" sz="24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</a:rPr>
              <a:t>Навигация по сайту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5892842"/>
      </p:ext>
    </p:extLst>
  </p:cSld>
  <p:clrMapOvr>
    <a:masterClrMapping/>
  </p:clrMapOvr>
  <p:transition advTm="2000">
    <p:comb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Построение </a:t>
            </a:r>
            <a:r>
              <a:rPr lang="en-US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ER-</a:t>
            </a:r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диаграммы предметной области</a:t>
            </a:r>
            <a:endParaRPr lang="ru-RU" sz="28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6117DF9-A7B7-45E9-BFAA-4CB587C7F730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106229"/>
            <a:ext cx="11641667" cy="5641703"/>
          </a:xfrm>
          <a:prstGeom prst="rect">
            <a:avLst/>
          </a:prstGeom>
          <a:noFill/>
          <a:ln>
            <a:noFill/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58949758"/>
      </p:ext>
    </p:extLst>
  </p:cSld>
  <p:clrMapOvr>
    <a:masterClrMapping/>
  </p:clrMapOvr>
  <p:transition advTm="2000">
    <p:comb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Математические модели</a:t>
            </a:r>
            <a:endParaRPr lang="ru-RU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1486069"/>
      </p:ext>
    </p:extLst>
  </p:cSld>
  <p:clrMapOvr>
    <a:masterClrMapping/>
  </p:clrMapOvr>
  <p:transition advTm="2000">
    <p:comb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Концептуальная модель данных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AF282AC-2C67-48E6-9C30-D5705FBAE15E}"/>
              </a:ext>
            </a:extLst>
          </p:cNvPr>
          <p:cNvPicPr/>
          <p:nvPr/>
        </p:nvPicPr>
        <p:blipFill rotWithShape="1">
          <a:blip r:embed="rId4"/>
          <a:srcRect l="1334"/>
          <a:stretch/>
        </p:blipFill>
        <p:spPr bwMode="auto">
          <a:xfrm>
            <a:off x="770467" y="1211984"/>
            <a:ext cx="10828814" cy="550208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70993199"/>
      </p:ext>
    </p:extLst>
  </p:cSld>
  <p:clrMapOvr>
    <a:masterClrMapping/>
  </p:clrMapOvr>
  <p:transition advTm="2000">
    <p:comb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Логическая модель данных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F4C5F49-0F38-42B8-AB13-89A8DBB1E5B7}"/>
              </a:ext>
            </a:extLst>
          </p:cNvPr>
          <p:cNvPicPr/>
          <p:nvPr/>
        </p:nvPicPr>
        <p:blipFill rotWithShape="1">
          <a:blip r:embed="rId4"/>
          <a:srcRect l="2084" r="7963"/>
          <a:stretch/>
        </p:blipFill>
        <p:spPr bwMode="auto">
          <a:xfrm>
            <a:off x="270933" y="973667"/>
            <a:ext cx="11680315" cy="57996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41549292"/>
      </p:ext>
    </p:extLst>
  </p:cSld>
  <p:clrMapOvr>
    <a:masterClrMapping/>
  </p:clrMapOvr>
  <p:transition advTm="2000">
    <p:comb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Физическая модель данных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11D0FA-B37F-4753-8074-ABEC7B573FD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 rot="5400000">
            <a:off x="3387690" y="-1691712"/>
            <a:ext cx="5519019" cy="109200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35110298"/>
      </p:ext>
    </p:extLst>
  </p:cSld>
  <p:clrMapOvr>
    <a:masterClrMapping/>
  </p:clrMapOvr>
  <p:transition advTm="2000">
    <p:comb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Описание источников информации, входной информации</a:t>
            </a:r>
            <a:endParaRPr lang="ru-RU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7927063"/>
      </p:ext>
    </p:extLst>
  </p:cSld>
  <p:clrMapOvr>
    <a:masterClrMapping/>
  </p:clrMapOvr>
  <p:transition advTm="2000">
    <p:comb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kern="1200" dirty="0">
                <a:solidFill>
                  <a:srgbClr val="000000"/>
                </a:solidFill>
                <a:effectLst/>
                <a:ea typeface="+mj-ea"/>
                <a:cs typeface="+mj-cs"/>
              </a:rPr>
              <a:t>Описание выходной информации</a:t>
            </a:r>
            <a:endParaRPr lang="ru-RU" sz="2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7251845"/>
      </p:ext>
    </p:extLst>
  </p:cSld>
  <p:clrMapOvr>
    <a:masterClrMapping/>
  </p:clrMapOvr>
  <p:transition advTm="2000">
    <p:comb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в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заимодействие с голосовым ассистентом в реальном времени)</a:t>
            </a:r>
          </a:p>
          <a:p>
            <a:endParaRPr lang="ru-RU" sz="28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24993BF-34BF-4A5E-A55D-C59FDF2D9C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0501" y="1352550"/>
            <a:ext cx="3209925" cy="207645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7962D10-7E55-4978-BDC4-71689BE7FE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904" y="3514725"/>
            <a:ext cx="7829550" cy="334327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E19C581-B951-4ADD-B530-92B6129439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5057" y="3514725"/>
            <a:ext cx="3483064" cy="33432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36713487"/>
      </p:ext>
    </p:extLst>
  </p:cSld>
  <p:clrMapOvr>
    <a:masterClrMapping/>
  </p:clrMapOvr>
  <p:transition advTm="2000">
    <p:comb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п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олучение подсказок по заданиям от ИИ)</a:t>
            </a:r>
          </a:p>
          <a:p>
            <a:endParaRPr lang="ru-RU" sz="28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2017AEA-7E18-409E-A7AB-2F2AB9702C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99" y="1423908"/>
            <a:ext cx="11328401" cy="543409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455113547"/>
      </p:ext>
    </p:extLst>
  </p:cSld>
  <p:clrMapOvr>
    <a:masterClrMapping/>
  </p:clrMapOvr>
  <p:transition advTm="2000">
    <p:comb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п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олучение подсказок по заданиям от ИИ)</a:t>
            </a:r>
          </a:p>
          <a:p>
            <a:endParaRPr lang="ru-RU" sz="28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50893B7-AEDC-46DE-9B17-EDC500B424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12" y="1698469"/>
            <a:ext cx="3381375" cy="37719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CB7AA67-E72A-4481-93AB-CC5D921BA3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6687" y="1698469"/>
            <a:ext cx="4161249" cy="350361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C34F82EE-F3C5-4F3F-98C1-13F61060E6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8870" y="1698469"/>
            <a:ext cx="3678884" cy="356489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60808806"/>
      </p:ext>
    </p:extLst>
  </p:cSld>
  <p:clrMapOvr>
    <a:masterClrMapping/>
  </p:clrMapOvr>
  <p:transition advTm="2000">
    <p:comb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п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олучение подсказок по заданиям от ИИ)</a:t>
            </a:r>
          </a:p>
          <a:p>
            <a:endParaRPr lang="ru-RU" sz="2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7CBFF98-AB94-4FA5-A338-CC627D6138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2066" y="1370059"/>
            <a:ext cx="4874684" cy="540697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95439578"/>
      </p:ext>
    </p:extLst>
  </p:cSld>
  <p:clrMapOvr>
    <a:masterClrMapping/>
  </p:clrMapOvr>
  <p:transition advTm="2000">
    <p:comb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н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авигация по содержимому курса от ИИ)</a:t>
            </a:r>
          </a:p>
          <a:p>
            <a:endParaRPr lang="ru-RU" sz="28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6B67741-C605-4A77-9086-67D8775BEB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95637"/>
            <a:ext cx="12192000" cy="4876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73172864"/>
      </p:ext>
    </p:extLst>
  </p:cSld>
  <p:clrMapOvr>
    <a:masterClrMapping/>
  </p:clrMapOvr>
  <p:transition advTm="2000">
    <p:comb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н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авигация по содержимому курса от ИИ)</a:t>
            </a:r>
          </a:p>
          <a:p>
            <a:endParaRPr lang="ru-RU" sz="28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983DCAB-B437-49DC-805C-EC26F462F9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787" y="1760491"/>
            <a:ext cx="6572025" cy="371188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11679343"/>
      </p:ext>
    </p:extLst>
  </p:cSld>
  <p:clrMapOvr>
    <a:masterClrMapping/>
  </p:clrMapOvr>
  <p:transition advTm="2000">
    <p:comb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н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авигация по содержимому курса от ИИ)</a:t>
            </a:r>
          </a:p>
          <a:p>
            <a:endParaRPr lang="ru-RU" sz="28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237967-831B-40FA-AAA7-5B5C95529E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392" y="1870558"/>
            <a:ext cx="11935216" cy="405610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45731864"/>
      </p:ext>
    </p:extLst>
  </p:cSld>
  <p:clrMapOvr>
    <a:masterClrMapping/>
  </p:clrMapOvr>
  <p:transition advTm="2000">
    <p:comb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н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авигация по содержимому курса от ИИ)</a:t>
            </a:r>
          </a:p>
          <a:p>
            <a:endParaRPr lang="ru-RU" sz="2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2A4E58-89F6-4F13-B7DA-910FDE7B6B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553575"/>
            <a:ext cx="11430000" cy="46863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040568108"/>
      </p:ext>
    </p:extLst>
  </p:cSld>
  <p:clrMapOvr>
    <a:masterClrMapping/>
  </p:clrMapOvr>
  <p:transition advTm="2000">
    <p:comb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студента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н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авигация по содержимому курса от ИИ)</a:t>
            </a:r>
          </a:p>
          <a:p>
            <a:endParaRPr lang="ru-RU" sz="28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2892E16-7B99-48AD-B97A-BCDB2C513C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313" y="1727142"/>
            <a:ext cx="11539754" cy="389466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3861364"/>
      </p:ext>
    </p:extLst>
  </p:cSld>
  <p:clrMapOvr>
    <a:masterClrMapping/>
  </p:clrMapOvr>
  <p:transition advTm="2000">
    <p:comb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преподавателя (</a:t>
            </a:r>
            <a:r>
              <a:rPr lang="ru-RU" sz="2800" dirty="0">
                <a:solidFill>
                  <a:srgbClr val="000000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з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апуск автоматической ИИ проверки домашних заданий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)</a:t>
            </a:r>
          </a:p>
          <a:p>
            <a:endParaRPr lang="ru-RU" sz="28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A1D46A2-1067-4FE7-8B08-7F1A407514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435" y="1955858"/>
            <a:ext cx="7521105" cy="357341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26942D9-0D1F-412A-81DD-5C95734972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0242" y="1955858"/>
            <a:ext cx="3629025" cy="32670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86685639"/>
      </p:ext>
    </p:extLst>
  </p:cSld>
  <p:clrMapOvr>
    <a:masterClrMapping/>
  </p:clrMapOvr>
  <p:transition advTm="2000">
    <p:comb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преподавателя (</a:t>
            </a:r>
            <a:r>
              <a:rPr lang="ru-RU" sz="2800" dirty="0">
                <a:solidFill>
                  <a:srgbClr val="000000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з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апуск автоматической ИИ проверки домашних заданий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)</a:t>
            </a:r>
          </a:p>
          <a:p>
            <a:endParaRPr lang="ru-RU" sz="28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769EBE5-CB6F-4A22-9D50-480BED2BA6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26" y="1532211"/>
            <a:ext cx="3446293" cy="386952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D6CD352-9929-4AF5-BB10-56A9CB1C77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2265" y="1532211"/>
            <a:ext cx="7868537" cy="39541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386885396"/>
      </p:ext>
    </p:extLst>
  </p:cSld>
  <p:clrMapOvr>
    <a:masterClrMapping/>
  </p:clrMapOvr>
  <p:transition advTm="2000">
    <p:comb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преподавателя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в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заимодействие с голосовым ассистентом в реальном времени)</a:t>
            </a:r>
          </a:p>
          <a:p>
            <a:endParaRPr lang="ru-RU" sz="28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D534404-976A-4B4B-967E-5516097DC7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70" y="1722966"/>
            <a:ext cx="7781925" cy="37338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8EFA99A-D1FD-4E10-BEAE-73A7C8B08A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295" y="1722966"/>
            <a:ext cx="3979634" cy="323484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07242759"/>
      </p:ext>
    </p:extLst>
  </p:cSld>
  <p:clrMapOvr>
    <a:masterClrMapping/>
  </p:clrMapOvr>
  <p:transition advTm="2000">
    <p:comb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преподавателя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в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заимодействие с голосовым ассистентом в реальном времени)</a:t>
            </a:r>
          </a:p>
          <a:p>
            <a:endParaRPr lang="ru-RU" sz="2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8707795-F233-45FC-B7BE-99D009FC4A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662" y="1604795"/>
            <a:ext cx="4262543" cy="47676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5064FB6-43A0-4153-9C3F-2D175E1057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3205" y="1604795"/>
            <a:ext cx="4762500" cy="3190875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FACF84-30D3-45A6-B8FE-C23D6F5A74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3205" y="4796438"/>
            <a:ext cx="4762500" cy="136760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550907046"/>
      </p:ext>
    </p:extLst>
  </p:cSld>
  <p:clrMapOvr>
    <a:masterClrMapping/>
  </p:clrMapOvr>
  <p:transition advTm="2000">
    <p:comb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преподавателя (</a:t>
            </a:r>
            <a:r>
              <a:rPr lang="ru-RU" sz="2800" dirty="0"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в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заимодействие с голосовым ассистентом в реальном времени)</a:t>
            </a:r>
          </a:p>
          <a:p>
            <a:endParaRPr lang="ru-RU" sz="28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A1D46A2-1067-4FE7-8B08-7F1A407514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686" y="1608184"/>
            <a:ext cx="10372322" cy="492808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17020725"/>
      </p:ext>
    </p:extLst>
  </p:cSld>
  <p:clrMapOvr>
    <a:masterClrMapping/>
  </p:clrMapOvr>
  <p:transition advTm="2000">
    <p:comb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преподавателя (</a:t>
            </a:r>
            <a:r>
              <a:rPr lang="ru-RU" sz="2800" dirty="0">
                <a:solidFill>
                  <a:srgbClr val="000000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п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омощь в создании домашних заданий)</a:t>
            </a:r>
          </a:p>
          <a:p>
            <a:endParaRPr lang="ru-RU" sz="2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44B316-6094-4C8F-A657-506302226E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158" y="1500637"/>
            <a:ext cx="10315575" cy="43053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0512914"/>
      </p:ext>
    </p:extLst>
  </p:cSld>
  <p:clrMapOvr>
    <a:masterClrMapping/>
  </p:clrMapOvr>
  <p:transition advTm="2000">
    <p:comb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5622B6F-3C0A-4D47-9F54-DF470750C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" y="618125"/>
            <a:ext cx="2519680" cy="3555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595CC17-A47D-48B6-9A6A-053C00475D05}"/>
              </a:ext>
            </a:extLst>
          </p:cNvPr>
          <p:cNvSpPr txBox="1"/>
          <p:nvPr/>
        </p:nvSpPr>
        <p:spPr>
          <a:xfrm>
            <a:off x="687195" y="485563"/>
            <a:ext cx="105565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ea typeface="+mj-ea"/>
                <a:cs typeface="+mj-cs"/>
              </a:rPr>
              <a:t>Демонстрация функций для преподавателя (</a:t>
            </a:r>
            <a:r>
              <a:rPr lang="ru-RU" sz="2800" dirty="0">
                <a:solidFill>
                  <a:srgbClr val="000000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ea typeface="+mj-ea"/>
                <a:cs typeface="+mn-ea"/>
                <a:sym typeface="+mn-lt"/>
              </a:rPr>
              <a:t>п</a:t>
            </a:r>
            <a:r>
              <a:rPr lang="ru-RU" altLang="zh-CN" sz="2800" dirty="0">
                <a:solidFill>
                  <a:schemeClr val="tx1"/>
                </a:solidFill>
                <a:effectLst>
                  <a:outerShdw blurRad="50800" dist="38100" dir="2700000" algn="tl" rotWithShape="0">
                    <a:schemeClr val="bg1">
                      <a:alpha val="40000"/>
                    </a:schemeClr>
                  </a:outerShdw>
                </a:effectLst>
                <a:cs typeface="+mn-ea"/>
                <a:sym typeface="+mn-lt"/>
              </a:rPr>
              <a:t>омощь в создании домашних заданий)</a:t>
            </a:r>
          </a:p>
          <a:p>
            <a:endParaRPr lang="ru-RU" sz="2800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EAE1938-E112-4ACB-AFB7-B94AD1087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8650" y="1377093"/>
            <a:ext cx="3314700" cy="29527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E336D6B-73AF-4978-A001-4789D1DE7E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29843"/>
            <a:ext cx="12192000" cy="252412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20236544"/>
      </p:ext>
    </p:extLst>
  </p:cSld>
  <p:clrMapOvr>
    <a:masterClrMapping/>
  </p:clrMapOvr>
  <p:transition advTm="2000">
    <p:comb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8534B57C-9336-431F-9980-0995915F8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46" y="573172"/>
            <a:ext cx="2522221" cy="45976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2AAB2C-F422-4D8D-AECF-E3D41EB5BEEB}"/>
              </a:ext>
            </a:extLst>
          </p:cNvPr>
          <p:cNvSpPr txBox="1"/>
          <p:nvPr/>
        </p:nvSpPr>
        <p:spPr>
          <a:xfrm>
            <a:off x="865505" y="600327"/>
            <a:ext cx="64219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Системный </a:t>
            </a:r>
            <a:r>
              <a:rPr lang="ru-RU" sz="2800" dirty="0" err="1"/>
              <a:t>промпт</a:t>
            </a:r>
            <a:r>
              <a:rPr lang="ru-RU" sz="2800" dirty="0"/>
              <a:t> для голосового ИИ</a:t>
            </a:r>
          </a:p>
        </p:txBody>
      </p:sp>
      <p:sp>
        <p:nvSpPr>
          <p:cNvPr id="30" name="图形">
            <a:extLst>
              <a:ext uri="{FF2B5EF4-FFF2-40B4-BE49-F238E27FC236}">
                <a16:creationId xmlns:a16="http://schemas.microsoft.com/office/drawing/2014/main" id="{C7A1CB51-CCED-41E8-A955-3A41037E36E8}"/>
              </a:ext>
            </a:extLst>
          </p:cNvPr>
          <p:cNvSpPr/>
          <p:nvPr/>
        </p:nvSpPr>
        <p:spPr>
          <a:xfrm>
            <a:off x="865505" y="1352544"/>
            <a:ext cx="10279823" cy="4531789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42" name="图形">
            <a:extLst>
              <a:ext uri="{FF2B5EF4-FFF2-40B4-BE49-F238E27FC236}">
                <a16:creationId xmlns:a16="http://schemas.microsoft.com/office/drawing/2014/main" id="{025A0096-8DA7-4A13-8B20-2EC5FA963D4E}"/>
              </a:ext>
            </a:extLst>
          </p:cNvPr>
          <p:cNvSpPr/>
          <p:nvPr/>
        </p:nvSpPr>
        <p:spPr>
          <a:xfrm flipH="1">
            <a:off x="10591118" y="5349663"/>
            <a:ext cx="554210" cy="53467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963" h="888">
                <a:moveTo>
                  <a:pt x="0" y="42"/>
                </a:moveTo>
                <a:cubicBezTo>
                  <a:pt x="76" y="15"/>
                  <a:pt x="158" y="0"/>
                  <a:pt x="243" y="0"/>
                </a:cubicBezTo>
                <a:cubicBezTo>
                  <a:pt x="641" y="0"/>
                  <a:pt x="963" y="322"/>
                  <a:pt x="963" y="720"/>
                </a:cubicBezTo>
                <a:cubicBezTo>
                  <a:pt x="963" y="778"/>
                  <a:pt x="956" y="834"/>
                  <a:pt x="943" y="888"/>
                </a:cubicBezTo>
                <a:lnTo>
                  <a:pt x="0" y="888"/>
                </a:lnTo>
                <a:lnTo>
                  <a:pt x="0" y="42"/>
                </a:lnTo>
                <a:close/>
              </a:path>
            </a:pathLst>
          </a:custGeom>
          <a:gradFill>
            <a:gsLst>
              <a:gs pos="5000">
                <a:srgbClr val="096AED"/>
              </a:gs>
              <a:gs pos="100000">
                <a:srgbClr val="069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F07EA2-B29F-4B06-B399-102604B8BE51}"/>
              </a:ext>
            </a:extLst>
          </p:cNvPr>
          <p:cNvSpPr txBox="1"/>
          <p:nvPr/>
        </p:nvSpPr>
        <p:spPr>
          <a:xfrm>
            <a:off x="1397479" y="1516659"/>
            <a:ext cx="882482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### ЯЗЫК</a:t>
            </a:r>
          </a:p>
          <a:p>
            <a:r>
              <a:rPr lang="ru-RU" sz="1600" dirty="0"/>
              <a:t>ОТВЕЧАЙ ИСКЛЮЧИТЕЛЬНО НА РУССКОМ ЯЗЫКЕ. Ни слова на других языках.</a:t>
            </a:r>
          </a:p>
          <a:p>
            <a:r>
              <a:rPr lang="ru-RU" sz="1600" dirty="0"/>
              <a:t>### КТО ТЫ</a:t>
            </a:r>
          </a:p>
          <a:p>
            <a:r>
              <a:rPr lang="ru-RU" sz="1600" dirty="0"/>
              <a:t>Ты — </a:t>
            </a:r>
            <a:r>
              <a:rPr lang="ru-RU" sz="1600" dirty="0" err="1"/>
              <a:t>Кортана</a:t>
            </a:r>
            <a:r>
              <a:rPr lang="ru-RU" sz="1600" dirty="0"/>
              <a:t>, голосовой ассистент образовательной платформы </a:t>
            </a:r>
            <a:r>
              <a:rPr lang="ru-RU" sz="1600" dirty="0" err="1"/>
              <a:t>EduAI</a:t>
            </a:r>
            <a:r>
              <a:rPr lang="ru-RU" sz="1600" dirty="0"/>
              <a:t>.</a:t>
            </a:r>
          </a:p>
          <a:p>
            <a:r>
              <a:rPr lang="ru-RU" sz="1600" dirty="0"/>
              <a:t>### КАК СЕБЯ ВЕСТИ</a:t>
            </a:r>
          </a:p>
          <a:p>
            <a:r>
              <a:rPr lang="ru-RU" sz="1600" dirty="0"/>
              <a:t>1. Только русский язык.</a:t>
            </a:r>
          </a:p>
          <a:p>
            <a:r>
              <a:rPr lang="ru-RU" sz="1600" dirty="0"/>
              <a:t>2. Отвечай кратко и по-человечески. Без таблиц, кода и </a:t>
            </a:r>
            <a:r>
              <a:rPr lang="ru-RU" sz="1600" dirty="0" err="1"/>
              <a:t>markdown</a:t>
            </a:r>
            <a:r>
              <a:rPr lang="ru-RU" sz="1600" dirty="0"/>
              <a:t> — ты говоришь вслух.</a:t>
            </a:r>
          </a:p>
          <a:p>
            <a:r>
              <a:rPr lang="ru-RU" sz="1600" dirty="0"/>
              <a:t>3. Не комментируй экран по своей инициативе, отвечай только на прямые вопросы пользователя.</a:t>
            </a:r>
          </a:p>
          <a:p>
            <a:r>
              <a:rPr lang="ru-RU" sz="1600" dirty="0"/>
              <a:t>4. На приветствие отвечай тепло и коротко, без навигации.</a:t>
            </a:r>
          </a:p>
          <a:p>
            <a:r>
              <a:rPr lang="ru-RU" sz="1600" dirty="0"/>
              <a:t>5. Подсказки по домашним заданиям — только в стиле Сократа: задавай наводящие вопросы, не давай готовый ответ.</a:t>
            </a:r>
          </a:p>
          <a:p>
            <a:r>
              <a:rPr lang="ru-RU" sz="1600" dirty="0"/>
              <a:t>6. ПОИСК ПЕРЕД ОТВЕТОМ: Прежде чем отвечать на любой вопрос по теме курса, ты ОБЯЗАН СНАЧАЛА вызвать </a:t>
            </a:r>
            <a:r>
              <a:rPr lang="ru-RU" sz="1600" dirty="0" err="1"/>
              <a:t>queryKnowledgeBase</a:t>
            </a:r>
            <a:r>
              <a:rPr lang="ru-RU" sz="1600" dirty="0"/>
              <a:t>, чтобы найти точную информацию в уроках. ЗАПРЕЩЕНО отвечать из своих знаний до поиска. Только если инструмент вернул «информация не найдена», ты можешь ответить из своих знаний. Если нашёл нужный ответ — перейди на урок (</a:t>
            </a:r>
            <a:r>
              <a:rPr lang="ru-RU" sz="1600" dirty="0" err="1"/>
              <a:t>navigatePage</a:t>
            </a:r>
            <a:r>
              <a:rPr lang="ru-RU" sz="1600" dirty="0"/>
              <a:t>) и обязательно передай </a:t>
            </a:r>
            <a:r>
              <a:rPr lang="ru-RU" sz="1600" dirty="0" err="1"/>
              <a:t>highlight_text</a:t>
            </a:r>
            <a:r>
              <a:rPr lang="ru-RU" sz="1600" dirty="0"/>
              <a:t> с точной цитатой (3–5 слов) для подсветки.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16895727"/>
      </p:ext>
    </p:extLst>
  </p:cSld>
  <p:clrMapOvr>
    <a:masterClrMapping/>
  </p:clrMapOvr>
  <p:transition advTm="2000">
    <p:diamond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8534B57C-9336-431F-9980-0995915F8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46" y="573172"/>
            <a:ext cx="2522221" cy="45976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2AAB2C-F422-4D8D-AECF-E3D41EB5BEEB}"/>
              </a:ext>
            </a:extLst>
          </p:cNvPr>
          <p:cNvSpPr txBox="1"/>
          <p:nvPr/>
        </p:nvSpPr>
        <p:spPr>
          <a:xfrm>
            <a:off x="865505" y="600327"/>
            <a:ext cx="64219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Системный </a:t>
            </a:r>
            <a:r>
              <a:rPr lang="ru-RU" sz="2800" dirty="0" err="1"/>
              <a:t>промпт</a:t>
            </a:r>
            <a:r>
              <a:rPr lang="ru-RU" sz="2800" dirty="0"/>
              <a:t> для голосового ИИ</a:t>
            </a:r>
          </a:p>
        </p:txBody>
      </p:sp>
      <p:sp>
        <p:nvSpPr>
          <p:cNvPr id="30" name="图形">
            <a:extLst>
              <a:ext uri="{FF2B5EF4-FFF2-40B4-BE49-F238E27FC236}">
                <a16:creationId xmlns:a16="http://schemas.microsoft.com/office/drawing/2014/main" id="{C7A1CB51-CCED-41E8-A955-3A41037E36E8}"/>
              </a:ext>
            </a:extLst>
          </p:cNvPr>
          <p:cNvSpPr/>
          <p:nvPr/>
        </p:nvSpPr>
        <p:spPr>
          <a:xfrm>
            <a:off x="865505" y="1979077"/>
            <a:ext cx="10279823" cy="3405723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42" name="图形">
            <a:extLst>
              <a:ext uri="{FF2B5EF4-FFF2-40B4-BE49-F238E27FC236}">
                <a16:creationId xmlns:a16="http://schemas.microsoft.com/office/drawing/2014/main" id="{025A0096-8DA7-4A13-8B20-2EC5FA963D4E}"/>
              </a:ext>
            </a:extLst>
          </p:cNvPr>
          <p:cNvSpPr/>
          <p:nvPr/>
        </p:nvSpPr>
        <p:spPr>
          <a:xfrm flipH="1">
            <a:off x="10591118" y="4850130"/>
            <a:ext cx="554210" cy="53467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963" h="888">
                <a:moveTo>
                  <a:pt x="0" y="42"/>
                </a:moveTo>
                <a:cubicBezTo>
                  <a:pt x="76" y="15"/>
                  <a:pt x="158" y="0"/>
                  <a:pt x="243" y="0"/>
                </a:cubicBezTo>
                <a:cubicBezTo>
                  <a:pt x="641" y="0"/>
                  <a:pt x="963" y="322"/>
                  <a:pt x="963" y="720"/>
                </a:cubicBezTo>
                <a:cubicBezTo>
                  <a:pt x="963" y="778"/>
                  <a:pt x="956" y="834"/>
                  <a:pt x="943" y="888"/>
                </a:cubicBezTo>
                <a:lnTo>
                  <a:pt x="0" y="888"/>
                </a:lnTo>
                <a:lnTo>
                  <a:pt x="0" y="42"/>
                </a:lnTo>
                <a:close/>
              </a:path>
            </a:pathLst>
          </a:custGeom>
          <a:gradFill>
            <a:gsLst>
              <a:gs pos="5000">
                <a:srgbClr val="096AED"/>
              </a:gs>
              <a:gs pos="100000">
                <a:srgbClr val="069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F07EA2-B29F-4B06-B399-102604B8BE51}"/>
              </a:ext>
            </a:extLst>
          </p:cNvPr>
          <p:cNvSpPr txBox="1"/>
          <p:nvPr/>
        </p:nvSpPr>
        <p:spPr>
          <a:xfrm>
            <a:off x="1397479" y="2377695"/>
            <a:ext cx="882482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### ПРИВЕТСТВИЕ</a:t>
            </a:r>
          </a:p>
          <a:p>
            <a:r>
              <a:rPr lang="ru-RU" dirty="0"/>
              <a:t>Если начинаешь разговор — скажи только: «Привет! Чем могу помочь?»</a:t>
            </a:r>
          </a:p>
          <a:p>
            <a:r>
              <a:rPr lang="ru-RU" dirty="0"/>
              <a:t>### НАВИГАЦИЯ</a:t>
            </a:r>
          </a:p>
          <a:p>
            <a:r>
              <a:rPr lang="ru-RU" dirty="0"/>
              <a:t>Переходы — только через инструмент </a:t>
            </a:r>
            <a:r>
              <a:rPr lang="ru-RU" dirty="0" err="1"/>
              <a:t>navigatePage</a:t>
            </a:r>
            <a:r>
              <a:rPr lang="ru-RU" dirty="0"/>
              <a:t>. Никогда не говори вслух </a:t>
            </a:r>
            <a:r>
              <a:rPr lang="ru-RU" dirty="0" err="1"/>
              <a:t>navigate</a:t>
            </a:r>
            <a:r>
              <a:rPr lang="ru-RU" dirty="0"/>
              <a:t>, NAVIGATE, </a:t>
            </a:r>
            <a:r>
              <a:rPr lang="ru-RU" dirty="0" err="1"/>
              <a:t>path</a:t>
            </a:r>
            <a:r>
              <a:rPr lang="ru-RU" dirty="0"/>
              <a:t> или URL.</a:t>
            </a:r>
          </a:p>
          <a:p>
            <a:r>
              <a:rPr lang="ru-RU" dirty="0"/>
              <a:t>### КОНТЕКСТ СТРАНИЦЫ</a:t>
            </a:r>
          </a:p>
          <a:p>
            <a:r>
              <a:rPr lang="ru-RU" dirty="0"/>
              <a:t>Во время звонка контекст страницы обновляется в реальном времени — ИИ всегда знает на каком уроке находится студент, что написано на экране и какое задание открыто.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3136438"/>
      </p:ext>
    </p:extLst>
  </p:cSld>
  <p:clrMapOvr>
    <a:masterClrMapping/>
  </p:clrMapOvr>
  <p:transition advTm="2000">
    <p:diamond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8534B57C-9336-431F-9980-0995915F8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240" y="576628"/>
            <a:ext cx="2522221" cy="45976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2AAB2C-F422-4D8D-AECF-E3D41EB5BEEB}"/>
              </a:ext>
            </a:extLst>
          </p:cNvPr>
          <p:cNvSpPr txBox="1"/>
          <p:nvPr/>
        </p:nvSpPr>
        <p:spPr>
          <a:xfrm>
            <a:off x="1036435" y="-34217"/>
            <a:ext cx="95061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Исключение галлюцинаций и ограничение контекста ИИ</a:t>
            </a:r>
          </a:p>
          <a:p>
            <a:endParaRPr lang="ru-RU" sz="2800" dirty="0"/>
          </a:p>
        </p:txBody>
      </p:sp>
      <p:sp>
        <p:nvSpPr>
          <p:cNvPr id="30" name="图形">
            <a:extLst>
              <a:ext uri="{FF2B5EF4-FFF2-40B4-BE49-F238E27FC236}">
                <a16:creationId xmlns:a16="http://schemas.microsoft.com/office/drawing/2014/main" id="{C7A1CB51-CCED-41E8-A955-3A41037E36E8}"/>
              </a:ext>
            </a:extLst>
          </p:cNvPr>
          <p:cNvSpPr/>
          <p:nvPr/>
        </p:nvSpPr>
        <p:spPr>
          <a:xfrm>
            <a:off x="1353613" y="541307"/>
            <a:ext cx="4417695" cy="3092455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72D824-1065-4100-8506-F0E32CE6EFF3}"/>
              </a:ext>
            </a:extLst>
          </p:cNvPr>
          <p:cNvSpPr txBox="1"/>
          <p:nvPr/>
        </p:nvSpPr>
        <p:spPr>
          <a:xfrm>
            <a:off x="1353614" y="562335"/>
            <a:ext cx="4042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096AED"/>
                </a:solidFill>
                <a:cs typeface="+mn-ea"/>
              </a:rPr>
              <a:t>Технология RAG вместо "памяти" нейросети.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4CB932-720C-453B-B8EB-F174CF0CA4E6}"/>
              </a:ext>
            </a:extLst>
          </p:cNvPr>
          <p:cNvSpPr txBox="1"/>
          <p:nvPr/>
        </p:nvSpPr>
        <p:spPr>
          <a:xfrm>
            <a:off x="1661614" y="1335102"/>
            <a:ext cx="34269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ИИ не придумывает ответы из головы, а работает с базой знаний платформы. Перед тем как ответить, система находит нужные абзацы в лекциях и передает их нейросети как единственный источник правды.</a:t>
            </a:r>
          </a:p>
        </p:txBody>
      </p:sp>
      <p:sp>
        <p:nvSpPr>
          <p:cNvPr id="9" name="图形">
            <a:extLst>
              <a:ext uri="{FF2B5EF4-FFF2-40B4-BE49-F238E27FC236}">
                <a16:creationId xmlns:a16="http://schemas.microsoft.com/office/drawing/2014/main" id="{87F16EF7-D657-450A-97C1-F777638C266C}"/>
              </a:ext>
            </a:extLst>
          </p:cNvPr>
          <p:cNvSpPr/>
          <p:nvPr/>
        </p:nvSpPr>
        <p:spPr>
          <a:xfrm>
            <a:off x="6124902" y="541307"/>
            <a:ext cx="4417695" cy="3092455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B7F334-292C-40E7-9CD7-42C63FFCDBE8}"/>
              </a:ext>
            </a:extLst>
          </p:cNvPr>
          <p:cNvSpPr txBox="1"/>
          <p:nvPr/>
        </p:nvSpPr>
        <p:spPr>
          <a:xfrm>
            <a:off x="6124901" y="562336"/>
            <a:ext cx="4417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096AED"/>
                </a:solidFill>
                <a:cs typeface="+mn-ea"/>
              </a:rPr>
              <a:t>Изолированные хранилища данных.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10EF9C-3768-44AF-B3AA-C37C32083B66}"/>
              </a:ext>
            </a:extLst>
          </p:cNvPr>
          <p:cNvSpPr txBox="1"/>
          <p:nvPr/>
        </p:nvSpPr>
        <p:spPr>
          <a:xfrm>
            <a:off x="6439968" y="1229695"/>
            <a:ext cx="38862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Контент каждого курса лежит в отдельной коллекции векторной базы данных (</a:t>
            </a:r>
            <a:r>
              <a:rPr lang="ru-RU" sz="1800" dirty="0" err="1"/>
              <a:t>ChromaDB</a:t>
            </a:r>
            <a:r>
              <a:rPr lang="ru-RU" sz="1800" dirty="0"/>
              <a:t>). Поиск ответа идет строго внутри открытого курса, исключая подмешивание фактов из других предметов.</a:t>
            </a:r>
          </a:p>
        </p:txBody>
      </p:sp>
      <p:sp>
        <p:nvSpPr>
          <p:cNvPr id="13" name="图形">
            <a:extLst>
              <a:ext uri="{FF2B5EF4-FFF2-40B4-BE49-F238E27FC236}">
                <a16:creationId xmlns:a16="http://schemas.microsoft.com/office/drawing/2014/main" id="{418A6FFB-B1D5-4F5C-B0D7-8D6E549F3778}"/>
              </a:ext>
            </a:extLst>
          </p:cNvPr>
          <p:cNvSpPr/>
          <p:nvPr/>
        </p:nvSpPr>
        <p:spPr>
          <a:xfrm>
            <a:off x="1353613" y="3760198"/>
            <a:ext cx="4417695" cy="3092455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DA178-D5A2-480B-B005-9285A9167CC5}"/>
              </a:ext>
            </a:extLst>
          </p:cNvPr>
          <p:cNvSpPr txBox="1"/>
          <p:nvPr/>
        </p:nvSpPr>
        <p:spPr>
          <a:xfrm>
            <a:off x="1353614" y="3781226"/>
            <a:ext cx="4417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096AED"/>
                </a:solidFill>
                <a:cs typeface="+mn-ea"/>
              </a:rPr>
              <a:t>Жесткий системный </a:t>
            </a:r>
            <a:r>
              <a:rPr lang="ru-RU" dirty="0" err="1">
                <a:solidFill>
                  <a:srgbClr val="096AED"/>
                </a:solidFill>
                <a:cs typeface="+mn-ea"/>
              </a:rPr>
              <a:t>промпт</a:t>
            </a:r>
            <a:r>
              <a:rPr lang="ru-RU" dirty="0">
                <a:solidFill>
                  <a:srgbClr val="096AED"/>
                </a:solidFill>
                <a:cs typeface="+mn-ea"/>
              </a:rPr>
              <a:t>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DCF909-5437-4A40-AC74-DE4669A15C7C}"/>
              </a:ext>
            </a:extLst>
          </p:cNvPr>
          <p:cNvSpPr txBox="1"/>
          <p:nvPr/>
        </p:nvSpPr>
        <p:spPr>
          <a:xfrm>
            <a:off x="1790175" y="4286658"/>
            <a:ext cx="34269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На базовом уровне поведения модели задано правило (</a:t>
            </a:r>
            <a:r>
              <a:rPr lang="ru-RU" sz="1800" dirty="0" err="1"/>
              <a:t>Grounding</a:t>
            </a:r>
            <a:r>
              <a:rPr lang="ru-RU" sz="1800" dirty="0"/>
              <a:t>): "Используй только материалы курса. Если нужной информации в тексте нет — скажи честно, не выдумывай факты".</a:t>
            </a:r>
          </a:p>
        </p:txBody>
      </p:sp>
      <p:sp>
        <p:nvSpPr>
          <p:cNvPr id="17" name="图形">
            <a:extLst>
              <a:ext uri="{FF2B5EF4-FFF2-40B4-BE49-F238E27FC236}">
                <a16:creationId xmlns:a16="http://schemas.microsoft.com/office/drawing/2014/main" id="{A502A61E-03FA-4C55-9087-057C54EF44F3}"/>
              </a:ext>
            </a:extLst>
          </p:cNvPr>
          <p:cNvSpPr/>
          <p:nvPr/>
        </p:nvSpPr>
        <p:spPr>
          <a:xfrm>
            <a:off x="6124900" y="3765545"/>
            <a:ext cx="4417695" cy="3092455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15C30A-DF58-4ADC-B05F-2711118556F7}"/>
              </a:ext>
            </a:extLst>
          </p:cNvPr>
          <p:cNvSpPr txBox="1"/>
          <p:nvPr/>
        </p:nvSpPr>
        <p:spPr>
          <a:xfrm>
            <a:off x="6124901" y="3786573"/>
            <a:ext cx="4417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rgbClr val="096AED"/>
                </a:solidFill>
                <a:cs typeface="+mn-ea"/>
              </a:rPr>
              <a:t>Контроль галлюцинаций при проверке ДЗ.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749433-E742-4ACE-BAB8-57DAE5A8EF85}"/>
              </a:ext>
            </a:extLst>
          </p:cNvPr>
          <p:cNvSpPr txBox="1"/>
          <p:nvPr/>
        </p:nvSpPr>
        <p:spPr>
          <a:xfrm>
            <a:off x="6561462" y="4292005"/>
            <a:ext cx="34269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/>
              <a:t>Для проверки кода могут использоваться эталонные ответы и </a:t>
            </a:r>
            <a:r>
              <a:rPr lang="ru-RU" sz="1800" dirty="0" err="1"/>
              <a:t>автотесты</a:t>
            </a:r>
            <a:r>
              <a:rPr lang="ru-RU" sz="1800" dirty="0"/>
              <a:t>. ИИ выступает лишь как анализатор сравнения работы ученика с эталоном, что исключает субъективные оценки.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D926C7A-C1EA-4118-B248-0D0EEC8029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646" y="611169"/>
            <a:ext cx="666966" cy="1014179"/>
          </a:xfrm>
          <a:prstGeom prst="rect">
            <a:avLst/>
          </a:prstGeom>
        </p:spPr>
      </p:pic>
      <p:sp>
        <p:nvSpPr>
          <p:cNvPr id="23" name="图形">
            <a:extLst>
              <a:ext uri="{FF2B5EF4-FFF2-40B4-BE49-F238E27FC236}">
                <a16:creationId xmlns:a16="http://schemas.microsoft.com/office/drawing/2014/main" id="{A93FF75D-F849-406C-A651-C6C8F8E0D56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217098" y="2991558"/>
            <a:ext cx="538851" cy="572712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24" name="图形">
            <a:extLst>
              <a:ext uri="{FF2B5EF4-FFF2-40B4-BE49-F238E27FC236}">
                <a16:creationId xmlns:a16="http://schemas.microsoft.com/office/drawing/2014/main" id="{F35CCB17-DBC6-4C0F-907F-D3A9A96E825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291010" y="3078789"/>
            <a:ext cx="391025" cy="41605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25" name="图形">
            <a:extLst>
              <a:ext uri="{FF2B5EF4-FFF2-40B4-BE49-F238E27FC236}">
                <a16:creationId xmlns:a16="http://schemas.microsoft.com/office/drawing/2014/main" id="{6F05DC46-2803-4A6A-81E0-C45A375A5592}"/>
              </a:ext>
            </a:extLst>
          </p:cNvPr>
          <p:cNvSpPr txBox="1"/>
          <p:nvPr/>
        </p:nvSpPr>
        <p:spPr>
          <a:xfrm flipH="1">
            <a:off x="5329776" y="3084246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1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26" name="图形">
            <a:extLst>
              <a:ext uri="{FF2B5EF4-FFF2-40B4-BE49-F238E27FC236}">
                <a16:creationId xmlns:a16="http://schemas.microsoft.com/office/drawing/2014/main" id="{B68E0B70-C682-4D1D-BD7C-725A4BE83484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988385" y="3034274"/>
            <a:ext cx="538851" cy="572712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29" name="图形">
            <a:extLst>
              <a:ext uri="{FF2B5EF4-FFF2-40B4-BE49-F238E27FC236}">
                <a16:creationId xmlns:a16="http://schemas.microsoft.com/office/drawing/2014/main" id="{DDFBB179-DA95-422B-B99F-ABF7BCADC49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062297" y="3121505"/>
            <a:ext cx="391025" cy="41605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1" name="图形">
            <a:extLst>
              <a:ext uri="{FF2B5EF4-FFF2-40B4-BE49-F238E27FC236}">
                <a16:creationId xmlns:a16="http://schemas.microsoft.com/office/drawing/2014/main" id="{49728357-44E2-42F3-91DF-296D19C315A6}"/>
              </a:ext>
            </a:extLst>
          </p:cNvPr>
          <p:cNvSpPr txBox="1"/>
          <p:nvPr/>
        </p:nvSpPr>
        <p:spPr>
          <a:xfrm flipH="1">
            <a:off x="10101063" y="3126962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2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2" name="图形">
            <a:extLst>
              <a:ext uri="{FF2B5EF4-FFF2-40B4-BE49-F238E27FC236}">
                <a16:creationId xmlns:a16="http://schemas.microsoft.com/office/drawing/2014/main" id="{3001179F-672B-4BA1-A7A9-9BBF84D3ABE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210006" y="6230642"/>
            <a:ext cx="538851" cy="572712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3" name="图形">
            <a:extLst>
              <a:ext uri="{FF2B5EF4-FFF2-40B4-BE49-F238E27FC236}">
                <a16:creationId xmlns:a16="http://schemas.microsoft.com/office/drawing/2014/main" id="{02B50356-4F08-4FAC-8594-7427EF38D5C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283918" y="6317873"/>
            <a:ext cx="391025" cy="41605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4" name="图形">
            <a:extLst>
              <a:ext uri="{FF2B5EF4-FFF2-40B4-BE49-F238E27FC236}">
                <a16:creationId xmlns:a16="http://schemas.microsoft.com/office/drawing/2014/main" id="{15B9B047-4C36-46F4-92B7-9AFC1A4516F2}"/>
              </a:ext>
            </a:extLst>
          </p:cNvPr>
          <p:cNvSpPr txBox="1"/>
          <p:nvPr/>
        </p:nvSpPr>
        <p:spPr>
          <a:xfrm flipH="1">
            <a:off x="5322684" y="6323330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3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5" name="图形">
            <a:extLst>
              <a:ext uri="{FF2B5EF4-FFF2-40B4-BE49-F238E27FC236}">
                <a16:creationId xmlns:a16="http://schemas.microsoft.com/office/drawing/2014/main" id="{2E3C6E10-52EA-4F1F-A51F-A4059937C6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974637" y="6224005"/>
            <a:ext cx="538851" cy="572712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6" name="图形">
            <a:extLst>
              <a:ext uri="{FF2B5EF4-FFF2-40B4-BE49-F238E27FC236}">
                <a16:creationId xmlns:a16="http://schemas.microsoft.com/office/drawing/2014/main" id="{88254130-BDC1-4B98-B07B-8917E113B70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048549" y="6311236"/>
            <a:ext cx="391025" cy="41605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7" name="图形">
            <a:extLst>
              <a:ext uri="{FF2B5EF4-FFF2-40B4-BE49-F238E27FC236}">
                <a16:creationId xmlns:a16="http://schemas.microsoft.com/office/drawing/2014/main" id="{1B6A81E7-32C7-4025-9E44-070DC1D3CBB7}"/>
              </a:ext>
            </a:extLst>
          </p:cNvPr>
          <p:cNvSpPr txBox="1"/>
          <p:nvPr/>
        </p:nvSpPr>
        <p:spPr>
          <a:xfrm flipH="1">
            <a:off x="10087315" y="6316693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20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4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49464098"/>
      </p:ext>
    </p:extLst>
  </p:cSld>
  <p:clrMapOvr>
    <a:masterClrMapping/>
  </p:clrMapOvr>
  <p:transition advTm="2000">
    <p:diamond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8534B57C-9336-431F-9980-0995915F8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46" y="573172"/>
            <a:ext cx="2522221" cy="45976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2AAB2C-F422-4D8D-AECF-E3D41EB5BEEB}"/>
              </a:ext>
            </a:extLst>
          </p:cNvPr>
          <p:cNvSpPr txBox="1"/>
          <p:nvPr/>
        </p:nvSpPr>
        <p:spPr>
          <a:xfrm>
            <a:off x="865505" y="600327"/>
            <a:ext cx="64219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Заключение</a:t>
            </a:r>
          </a:p>
        </p:txBody>
      </p:sp>
      <p:sp>
        <p:nvSpPr>
          <p:cNvPr id="30" name="图形">
            <a:extLst>
              <a:ext uri="{FF2B5EF4-FFF2-40B4-BE49-F238E27FC236}">
                <a16:creationId xmlns:a16="http://schemas.microsoft.com/office/drawing/2014/main" id="{C7A1CB51-CCED-41E8-A955-3A41037E36E8}"/>
              </a:ext>
            </a:extLst>
          </p:cNvPr>
          <p:cNvSpPr/>
          <p:nvPr/>
        </p:nvSpPr>
        <p:spPr>
          <a:xfrm>
            <a:off x="865505" y="1150702"/>
            <a:ext cx="10924418" cy="4646983"/>
          </a:xfrm>
          <a:prstGeom prst="roundRect">
            <a:avLst>
              <a:gd name="adj" fmla="val 5189"/>
            </a:avLst>
          </a:prstGeom>
          <a:solidFill>
            <a:schemeClr val="bg1"/>
          </a:solidFill>
          <a:ln w="0">
            <a:gradFill>
              <a:gsLst>
                <a:gs pos="4000">
                  <a:schemeClr val="accent2">
                    <a:alpha val="0"/>
                  </a:schemeClr>
                </a:gs>
                <a:gs pos="100000">
                  <a:schemeClr val="accent1"/>
                </a:gs>
              </a:gsLst>
              <a:lin ang="5400000" scaled="0"/>
            </a:gradFill>
          </a:ln>
          <a:effectLst>
            <a:outerShdw blurRad="762000" dist="571500" dir="5400000" sx="80000" sy="80000" algn="t" rotWithShape="0">
              <a:schemeClr val="accent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cs typeface="+mn-ea"/>
              <a:sym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921273-0681-43E5-A4FA-E67CED3CD6E6}"/>
              </a:ext>
            </a:extLst>
          </p:cNvPr>
          <p:cNvSpPr txBox="1"/>
          <p:nvPr/>
        </p:nvSpPr>
        <p:spPr>
          <a:xfrm>
            <a:off x="1478604" y="1342417"/>
            <a:ext cx="9717932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ru-RU" sz="2000" dirty="0"/>
              <a:t>Голосовой ИИ-ассистент «</a:t>
            </a:r>
            <a:r>
              <a:rPr lang="ru-RU" sz="2000" dirty="0" err="1"/>
              <a:t>Кортана</a:t>
            </a:r>
            <a:r>
              <a:rPr lang="ru-RU" sz="2000" dirty="0"/>
              <a:t>», интегрированный в образовательную платформу и обеспечивающий интерактивный диалог со студентом в реальном времени.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/>
              <a:t>Семантический поиск (RAG) на базе векторной БД </a:t>
            </a:r>
            <a:r>
              <a:rPr lang="ru-RU" sz="2000" dirty="0" err="1"/>
              <a:t>ChromaDB</a:t>
            </a:r>
            <a:r>
              <a:rPr lang="ru-RU" sz="2000" dirty="0"/>
              <a:t> — ассистент отвечает строго по материалам курса, исключая галлюцинации.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/>
              <a:t>Функция навигации и подсветки: ассистент самостоятельно находит нужный урок и выделяет соответствующий фрагмент текста на странице.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/>
              <a:t>Функция сократических подсказок — ассистент направляет студента наводящими вопросами, не раскрывая готового ответа.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 dirty="0"/>
              <a:t>Голосовой ассистент поддерживает режим преподавателя: автоматическое заполнение форм домашних заданий и запуск ИИ-проверки студенческих работ.</a:t>
            </a:r>
          </a:p>
          <a:p>
            <a:pPr marL="457200" indent="-457200" algn="l">
              <a:buFont typeface="+mj-lt"/>
              <a:buAutoNum type="arabicPeriod"/>
            </a:pPr>
            <a:r>
              <a:rPr lang="ru-RU" sz="2000"/>
              <a:t>Голосовой диалог </a:t>
            </a:r>
            <a:r>
              <a:rPr lang="ru-RU" sz="2000" dirty="0"/>
              <a:t>через протокол </a:t>
            </a:r>
            <a:r>
              <a:rPr lang="ru-RU" sz="2000" dirty="0" err="1"/>
              <a:t>WebRTC</a:t>
            </a:r>
            <a:r>
              <a:rPr lang="ru-RU" sz="2000" dirty="0"/>
              <a:t> на базе платформы </a:t>
            </a:r>
            <a:r>
              <a:rPr lang="ru-RU" sz="2000" dirty="0" err="1"/>
              <a:t>Ultravox</a:t>
            </a:r>
            <a:r>
              <a:rPr lang="ru-RU" sz="2000" dirty="0"/>
              <a:t> с минимальной задержкой отклика.</a:t>
            </a:r>
            <a:endParaRPr lang="ru-RU" dirty="0"/>
          </a:p>
        </p:txBody>
      </p:sp>
      <p:sp>
        <p:nvSpPr>
          <p:cNvPr id="15" name="图形">
            <a:extLst>
              <a:ext uri="{FF2B5EF4-FFF2-40B4-BE49-F238E27FC236}">
                <a16:creationId xmlns:a16="http://schemas.microsoft.com/office/drawing/2014/main" id="{96402F68-F6A9-48DA-BF5D-120A66CB4519}"/>
              </a:ext>
            </a:extLst>
          </p:cNvPr>
          <p:cNvSpPr/>
          <p:nvPr/>
        </p:nvSpPr>
        <p:spPr>
          <a:xfrm flipH="1">
            <a:off x="11129337" y="5133806"/>
            <a:ext cx="660586" cy="663879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963" h="888">
                <a:moveTo>
                  <a:pt x="0" y="42"/>
                </a:moveTo>
                <a:cubicBezTo>
                  <a:pt x="76" y="15"/>
                  <a:pt x="158" y="0"/>
                  <a:pt x="243" y="0"/>
                </a:cubicBezTo>
                <a:cubicBezTo>
                  <a:pt x="641" y="0"/>
                  <a:pt x="963" y="322"/>
                  <a:pt x="963" y="720"/>
                </a:cubicBezTo>
                <a:cubicBezTo>
                  <a:pt x="963" y="778"/>
                  <a:pt x="956" y="834"/>
                  <a:pt x="943" y="888"/>
                </a:cubicBezTo>
                <a:lnTo>
                  <a:pt x="0" y="888"/>
                </a:lnTo>
                <a:lnTo>
                  <a:pt x="0" y="42"/>
                </a:lnTo>
                <a:close/>
              </a:path>
            </a:pathLst>
          </a:custGeom>
          <a:gradFill>
            <a:gsLst>
              <a:gs pos="5000">
                <a:srgbClr val="096AED"/>
              </a:gs>
              <a:gs pos="100000">
                <a:srgbClr val="069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+mn-ea"/>
              <a:sym typeface="+mn-lt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0690605"/>
      </p:ext>
    </p:extLst>
  </p:cSld>
  <p:clrMapOvr>
    <a:masterClrMapping/>
  </p:clrMapOvr>
  <p:transition advTm="2000">
    <p:diamond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形"/>
          <p:cNvSpPr/>
          <p:nvPr/>
        </p:nvSpPr>
        <p:spPr>
          <a:xfrm>
            <a:off x="-2334260" y="-2563495"/>
            <a:ext cx="5401945" cy="5401945"/>
          </a:xfrm>
          <a:prstGeom prst="ellipse">
            <a:avLst/>
          </a:prstGeom>
          <a:gradFill>
            <a:gsLst>
              <a:gs pos="5000">
                <a:srgbClr val="096AED">
                  <a:alpha val="4000"/>
                </a:srgbClr>
              </a:gs>
              <a:gs pos="100000">
                <a:srgbClr val="0695F0">
                  <a:alpha val="23000"/>
                </a:srgbClr>
              </a:gs>
            </a:gsLst>
            <a:lin ang="2700000" scaled="0"/>
          </a:gra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7" name="图形"/>
          <p:cNvSpPr/>
          <p:nvPr/>
        </p:nvSpPr>
        <p:spPr>
          <a:xfrm flipV="1">
            <a:off x="0" y="0"/>
            <a:ext cx="1982470" cy="1828165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963" h="888">
                <a:moveTo>
                  <a:pt x="0" y="42"/>
                </a:moveTo>
                <a:cubicBezTo>
                  <a:pt x="76" y="15"/>
                  <a:pt x="158" y="0"/>
                  <a:pt x="243" y="0"/>
                </a:cubicBezTo>
                <a:cubicBezTo>
                  <a:pt x="641" y="0"/>
                  <a:pt x="963" y="322"/>
                  <a:pt x="963" y="720"/>
                </a:cubicBezTo>
                <a:cubicBezTo>
                  <a:pt x="963" y="778"/>
                  <a:pt x="956" y="834"/>
                  <a:pt x="943" y="888"/>
                </a:cubicBezTo>
                <a:lnTo>
                  <a:pt x="0" y="888"/>
                </a:lnTo>
                <a:lnTo>
                  <a:pt x="0" y="42"/>
                </a:lnTo>
                <a:close/>
              </a:path>
            </a:pathLst>
          </a:custGeom>
          <a:gradFill>
            <a:gsLst>
              <a:gs pos="5000">
                <a:srgbClr val="096AED"/>
              </a:gs>
              <a:gs pos="100000">
                <a:srgbClr val="0695F0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+mn-ea"/>
              <a:sym typeface="+mn-lt"/>
            </a:endParaRPr>
          </a:p>
        </p:txBody>
      </p:sp>
      <p:grpSp>
        <p:nvGrpSpPr>
          <p:cNvPr id="9" name="图形"/>
          <p:cNvGrpSpPr/>
          <p:nvPr/>
        </p:nvGrpSpPr>
        <p:grpSpPr>
          <a:xfrm>
            <a:off x="7200900" y="2178050"/>
            <a:ext cx="8634095" cy="8634095"/>
            <a:chOff x="7170" y="5823"/>
            <a:chExt cx="13597" cy="13597"/>
          </a:xfrm>
        </p:grpSpPr>
        <p:sp>
          <p:nvSpPr>
            <p:cNvPr id="8" name="图形"/>
            <p:cNvSpPr/>
            <p:nvPr/>
          </p:nvSpPr>
          <p:spPr>
            <a:xfrm>
              <a:off x="7170" y="5823"/>
              <a:ext cx="13597" cy="13597"/>
            </a:xfrm>
            <a:prstGeom prst="ellipse">
              <a:avLst/>
            </a:prstGeom>
            <a:gradFill>
              <a:gsLst>
                <a:gs pos="0">
                  <a:srgbClr val="096AED">
                    <a:alpha val="16000"/>
                  </a:srgbClr>
                </a:gs>
                <a:gs pos="100000">
                  <a:srgbClr val="0695F0">
                    <a:alpha val="53000"/>
                  </a:srgbClr>
                </a:gs>
              </a:gsLst>
              <a:lin ang="2700000" scaled="0"/>
            </a:gra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2" name="图形"/>
            <p:cNvSpPr/>
            <p:nvPr/>
          </p:nvSpPr>
          <p:spPr>
            <a:xfrm flipV="1">
              <a:off x="8762" y="7415"/>
              <a:ext cx="10413" cy="10413"/>
            </a:xfrm>
            <a:prstGeom prst="ellipse">
              <a:avLst/>
            </a:prstGeom>
            <a:gradFill flip="none" rotWithShape="1">
              <a:gsLst>
                <a:gs pos="5000">
                  <a:srgbClr val="096AED"/>
                </a:gs>
                <a:gs pos="100000">
                  <a:srgbClr val="0695F0"/>
                </a:gs>
              </a:gsLst>
              <a:lin ang="2700000" scaled="0"/>
            </a:gradFill>
            <a:ln>
              <a:noFill/>
            </a:ln>
            <a:effectLst>
              <a:outerShdw blurRad="609600" dist="152400" dir="13500000" algn="b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endParaRPr lang="zh-CN" altLang="en-US">
                <a:solidFill>
                  <a:srgbClr val="FFFFFF"/>
                </a:solidFill>
                <a:cs typeface="+mn-ea"/>
                <a:sym typeface="+mn-lt"/>
              </a:endParaRPr>
            </a:p>
          </p:txBody>
        </p:sp>
      </p:grpSp>
      <p:sp>
        <p:nvSpPr>
          <p:cNvPr id="87" name="图形"/>
          <p:cNvSpPr/>
          <p:nvPr/>
        </p:nvSpPr>
        <p:spPr>
          <a:xfrm>
            <a:off x="461010" y="688340"/>
            <a:ext cx="11269980" cy="5481955"/>
          </a:xfrm>
          <a:prstGeom prst="roundRect">
            <a:avLst>
              <a:gd name="adj" fmla="val 5625"/>
            </a:avLst>
          </a:prstGeom>
          <a:solidFill>
            <a:schemeClr val="bg1"/>
          </a:solidFill>
          <a:ln w="19050">
            <a:solidFill>
              <a:schemeClr val="bg1"/>
            </a:solidFill>
          </a:ln>
          <a:effectLst>
            <a:outerShdw blurRad="965200" dist="38100" dir="10800000" algn="r" rotWithShape="0">
              <a:srgbClr val="819CFF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图形"/>
          <p:cNvSpPr txBox="1"/>
          <p:nvPr/>
        </p:nvSpPr>
        <p:spPr>
          <a:xfrm>
            <a:off x="1207655" y="3905250"/>
            <a:ext cx="5030470" cy="671851"/>
          </a:xfrm>
          <a:prstGeom prst="rect">
            <a:avLst/>
          </a:prstGeom>
          <a:noFill/>
          <a:effectLst/>
        </p:spPr>
        <p:txBody>
          <a:bodyPr wrap="square" lIns="0" rIns="0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ru-RU" altLang="zh-CN" sz="2800" dirty="0">
                <a:cs typeface="+mn-ea"/>
                <a:sym typeface="+mn-lt"/>
              </a:rPr>
              <a:t>за внимание!</a:t>
            </a:r>
            <a:endParaRPr lang="en-US" altLang="zh-CN" sz="2800" dirty="0">
              <a:cs typeface="+mn-ea"/>
              <a:sym typeface="+mn-lt"/>
            </a:endParaRPr>
          </a:p>
        </p:txBody>
      </p:sp>
      <p:sp>
        <p:nvSpPr>
          <p:cNvPr id="11" name="图形"/>
          <p:cNvSpPr txBox="1"/>
          <p:nvPr/>
        </p:nvSpPr>
        <p:spPr>
          <a:xfrm>
            <a:off x="1016635" y="2828925"/>
            <a:ext cx="5274945" cy="10763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dist"/>
            <a:r>
              <a:rPr lang="ru-RU" altLang="zh-CN" sz="6400" dirty="0">
                <a:ln>
                  <a:noFill/>
                </a:ln>
                <a:solidFill>
                  <a:srgbClr val="096AED"/>
                </a:solidFill>
                <a:effectLst/>
                <a:cs typeface="+mn-ea"/>
                <a:sym typeface="+mn-lt"/>
              </a:rPr>
              <a:t>Спасибо</a:t>
            </a:r>
            <a:r>
              <a:rPr lang="en-US" altLang="zh-CN" sz="6400" dirty="0">
                <a:ln>
                  <a:noFill/>
                </a:ln>
                <a:solidFill>
                  <a:srgbClr val="096AED"/>
                </a:solidFill>
                <a:effectLst/>
                <a:cs typeface="+mn-ea"/>
                <a:sym typeface="+mn-lt"/>
              </a:rPr>
              <a:t> </a:t>
            </a:r>
            <a:endParaRPr lang="zh-CN" altLang="en-US" sz="6400" dirty="0">
              <a:ln>
                <a:noFill/>
              </a:ln>
              <a:solidFill>
                <a:srgbClr val="096AED"/>
              </a:solidFill>
              <a:effectLst/>
              <a:cs typeface="+mn-ea"/>
              <a:sym typeface="+mn-lt"/>
            </a:endParaRPr>
          </a:p>
        </p:txBody>
      </p:sp>
      <p:sp>
        <p:nvSpPr>
          <p:cNvPr id="13" name="图形"/>
          <p:cNvSpPr/>
          <p:nvPr/>
        </p:nvSpPr>
        <p:spPr>
          <a:xfrm>
            <a:off x="1016635" y="2008505"/>
            <a:ext cx="693420" cy="693420"/>
          </a:xfrm>
          <a:prstGeom prst="ellipse">
            <a:avLst/>
          </a:prstGeom>
          <a:solidFill>
            <a:srgbClr val="096AED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pic>
        <p:nvPicPr>
          <p:cNvPr id="18" name="图形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205470" y="688340"/>
            <a:ext cx="3525520" cy="325691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5552" h="5129">
                <a:moveTo>
                  <a:pt x="0" y="0"/>
                </a:moveTo>
                <a:lnTo>
                  <a:pt x="5066" y="0"/>
                </a:lnTo>
                <a:cubicBezTo>
                  <a:pt x="5335" y="0"/>
                  <a:pt x="5552" y="217"/>
                  <a:pt x="5552" y="486"/>
                </a:cubicBezTo>
                <a:lnTo>
                  <a:pt x="5552" y="5129"/>
                </a:lnTo>
                <a:lnTo>
                  <a:pt x="0" y="5129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17" name="图形" descr="C:/Users/Administrator/AppData/Local/Temp/picturecompress_20220709155216/output_1.pngoutput_1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146165" y="1289685"/>
            <a:ext cx="5584825" cy="4277995"/>
          </a:xfrm>
          <a:prstGeom prst="rect">
            <a:avLst/>
          </a:prstGeom>
        </p:spPr>
      </p:pic>
      <p:sp>
        <p:nvSpPr>
          <p:cNvPr id="19" name="图形">
            <a:extLst>
              <a:ext uri="{FF2B5EF4-FFF2-40B4-BE49-F238E27FC236}">
                <a16:creationId xmlns:a16="http://schemas.microsoft.com/office/drawing/2014/main" id="{D86F3D8A-4BD8-DDC2-3602-11B97110DD63}"/>
              </a:ext>
            </a:extLst>
          </p:cNvPr>
          <p:cNvSpPr/>
          <p:nvPr/>
        </p:nvSpPr>
        <p:spPr>
          <a:xfrm>
            <a:off x="1207135" y="4904740"/>
            <a:ext cx="1803400" cy="50482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Год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 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：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20</a:t>
            </a:r>
            <a:r>
              <a:rPr lang="ru-RU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rPr>
              <a:t>26</a:t>
            </a:r>
            <a:endParaRPr lang="zh-CN" altLang="en-US" sz="1600" dirty="0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custDataLst>
      <p:tags r:id="rId1"/>
    </p:custDataLst>
  </p:cSld>
  <p:clrMapOvr>
    <a:masterClrMapping/>
  </p:clrMapOvr>
  <p:transition advTm="2000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0" grpId="1" animBg="1"/>
      <p:bldP spid="11" grpId="0"/>
      <p:bldP spid="11" grpId="1"/>
      <p:bldP spid="19" grpId="0" bldLvl="0" animBg="1"/>
      <p:bldP spid="19" grpId="1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ww.jp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字魂58号-创中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字魂58号-创中黑"/>
        <a:ea typeface=""/>
        <a:cs typeface=""/>
        <a:font script="Jpan" typeface="ＭＳ Ｐゴシック"/>
        <a:font script="Hang" typeface="맑은 고딕"/>
        <a:font script="Hans" typeface="字魂58号-创中黑"/>
        <a:font script="Hant" typeface="新細明體"/>
        <a:font script="Arab" typeface="字魂58号-创中黑"/>
        <a:font script="Hebr" typeface="字魂58号-创中黑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字魂58号-创中黑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字魂58号-创中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字魂58号-创中黑"/>
        <a:ea typeface=""/>
        <a:cs typeface=""/>
        <a:font script="Jpan" typeface="ＭＳ Ｐゴシック"/>
        <a:font script="Hang" typeface="맑은 고딕"/>
        <a:font script="Hans" typeface="字魂58号-创中黑"/>
        <a:font script="Hant" typeface="新細明體"/>
        <a:font script="Arab" typeface="字魂58号-创中黑"/>
        <a:font script="Hebr" typeface="字魂58号-创中黑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字魂58号-创中黑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780</TotalTime>
  <Words>1519</Words>
  <Application>Microsoft Office PowerPoint</Application>
  <PresentationFormat>Широкоэкранный</PresentationFormat>
  <Paragraphs>165</Paragraphs>
  <Slides>41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41</vt:i4>
      </vt:variant>
    </vt:vector>
  </HeadingPairs>
  <TitlesOfParts>
    <vt:vector size="51" baseType="lpstr">
      <vt:lpstr>等线 Light</vt:lpstr>
      <vt:lpstr>微软雅黑</vt:lpstr>
      <vt:lpstr>Arial</vt:lpstr>
      <vt:lpstr>Calibri</vt:lpstr>
      <vt:lpstr>Calibri Light</vt:lpstr>
      <vt:lpstr>Times New Roman</vt:lpstr>
      <vt:lpstr>ui-sans-serif</vt:lpstr>
      <vt:lpstr>字魂58号-创中黑</vt:lpstr>
      <vt:lpstr>www.jpppt.com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>www.freeppt7.com</Manager>
  <Company>www.freeppt7.com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templates</dc:title>
  <dc:creator>www.freeppt7.com</dc:creator>
  <cp:keywords>www.freeppt7.com</cp:keywords>
  <dc:description>www.freeppt7.com</dc:description>
  <cp:lastModifiedBy>Abramov Maxim</cp:lastModifiedBy>
  <cp:revision>379</cp:revision>
  <dcterms:created xsi:type="dcterms:W3CDTF">2019-06-19T02:08:00Z</dcterms:created>
  <dcterms:modified xsi:type="dcterms:W3CDTF">2026-06-04T09:21:21Z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2052-11.1.0.11372</vt:lpwstr>
  </property>
  <property fmtid="{D5CDD505-2E9C-101B-9397-08002B2CF9AE}" pid="3" name="KSOSaveFontToCloudKey">
    <vt:lpwstr>212913176_cloud</vt:lpwstr>
  </property>
  <property fmtid="{D5CDD505-2E9C-101B-9397-08002B2CF9AE}" pid="4" name="ICV">
    <vt:lpwstr>34A87A8623BA4D7C8FEEAA3B5DA9FDE1</vt:lpwstr>
  </property>
</Properties>
</file>